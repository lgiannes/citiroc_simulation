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63" r:id="rId2"/>
    <p:sldId id="269" r:id="rId3"/>
    <p:sldId id="270" r:id="rId4"/>
    <p:sldId id="265" r:id="rId5"/>
    <p:sldId id="361" r:id="rId6"/>
    <p:sldId id="364" r:id="rId7"/>
    <p:sldId id="358" r:id="rId8"/>
    <p:sldId id="359" r:id="rId9"/>
    <p:sldId id="360" r:id="rId10"/>
    <p:sldId id="365" r:id="rId11"/>
    <p:sldId id="363" r:id="rId12"/>
    <p:sldId id="367" r:id="rId13"/>
    <p:sldId id="366" r:id="rId14"/>
    <p:sldId id="368" r:id="rId15"/>
    <p:sldId id="369" r:id="rId16"/>
    <p:sldId id="379" r:id="rId17"/>
    <p:sldId id="268" r:id="rId18"/>
    <p:sldId id="266" r:id="rId19"/>
  </p:sldIdLst>
  <p:sldSz cx="10080625" cy="5670550"/>
  <p:notesSz cx="7559675" cy="10691813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6D"/>
    <a:srgbClr val="00C157"/>
    <a:srgbClr val="00C0A9"/>
    <a:srgbClr val="44C32F"/>
    <a:srgbClr val="FFFFFF"/>
    <a:srgbClr val="F37200"/>
    <a:srgbClr val="F6FDF6"/>
    <a:srgbClr val="00C4A9"/>
    <a:srgbClr val="008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87"/>
    <p:restoredTop sz="95714"/>
  </p:normalViewPr>
  <p:slideViewPr>
    <p:cSldViewPr snapToGrid="0" snapToObjects="1">
      <p:cViewPr varScale="1">
        <p:scale>
          <a:sx n="132" d="100"/>
          <a:sy n="132" d="100"/>
        </p:scale>
        <p:origin x="10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70" d="100"/>
          <a:sy n="70" d="100"/>
        </p:scale>
        <p:origin x="4112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347038-EDE7-693F-861D-37214F22D55E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DCE473-FE20-0C54-0FB3-1A1CB5AE4360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C3D883-C90C-37D0-16D6-FE12466D06B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CDD1B-EAB0-FE2E-01BC-19BABE67DACC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4E3B2891-749E-9340-88C6-FF7612EFA1F3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Lohit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87512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1FF03-E794-1D14-99F4-C0105F37B8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92523C-166A-591F-F523-DFB2DFABBAC6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542454C-306F-56FE-8131-23E18907DC3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95AE7-6D97-D0B8-583C-CC75CCDB3B3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8F088-4968-D3C5-AFA7-68A28B85AC34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A1755-ACAA-12C1-B8F7-7A1338A2CA7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D6E2B5D4-C45C-364A-8326-93A9E1A8A4C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930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alphaModFix amt="15000"/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4">
            <a:extLst>
              <a:ext uri="{FF2B5EF4-FFF2-40B4-BE49-F238E27FC236}">
                <a16:creationId xmlns:a16="http://schemas.microsoft.com/office/drawing/2014/main" id="{EE0709A9-B0F1-2341-AA98-10EE706C0B10}"/>
              </a:ext>
            </a:extLst>
          </p:cNvPr>
          <p:cNvSpPr txBox="1">
            <a:spLocks/>
          </p:cNvSpPr>
          <p:nvPr userDrawn="1"/>
        </p:nvSpPr>
        <p:spPr>
          <a:xfrm>
            <a:off x="7119441" y="5255760"/>
            <a:ext cx="2268141" cy="301904"/>
          </a:xfrm>
          <a:prstGeom prst="rect">
            <a:avLst/>
          </a:prstGeom>
        </p:spPr>
        <p:txBody>
          <a:bodyPr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rgbClr val="0082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C55EB-CE2B-7A27-8C94-5B5E82759C41}"/>
              </a:ext>
            </a:extLst>
          </p:cNvPr>
          <p:cNvSpPr txBox="1"/>
          <p:nvPr userDrawn="1"/>
        </p:nvSpPr>
        <p:spPr>
          <a:xfrm>
            <a:off x="64079" y="5235624"/>
            <a:ext cx="5562997" cy="341855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1400" b="1" i="0" u="none" strike="noStrike" kern="1200" spc="300" dirty="0">
                <a:ln>
                  <a:noFill/>
                </a:ln>
                <a:solidFill>
                  <a:srgbClr val="00826D"/>
                </a:solidFill>
                <a:effectLst/>
                <a:latin typeface="Arial" pitchFamily="18"/>
                <a:ea typeface="Microsoft YaHei" pitchFamily="2"/>
                <a:cs typeface="Mangal" pitchFamily="2"/>
              </a:rPr>
              <a:t>University of Geneva</a:t>
            </a:r>
          </a:p>
          <a:p>
            <a:pPr marL="0" marR="0" lvl="0" indent="0" algn="l" rtl="0" hangingPunct="0">
              <a:buNone/>
              <a:tabLst/>
            </a:pPr>
            <a:r>
              <a:rPr lang="en-US" sz="1200" b="1" i="0" u="none" strike="noStrike" kern="1200" spc="300" dirty="0">
                <a:ln>
                  <a:noFill/>
                </a:ln>
                <a:solidFill>
                  <a:srgbClr val="00826D"/>
                </a:solidFill>
                <a:effectLst/>
                <a:latin typeface="Arial" pitchFamily="18"/>
                <a:ea typeface="Microsoft YaHei" pitchFamily="2"/>
                <a:cs typeface="Mangal" pitchFamily="2"/>
              </a:rPr>
              <a:t>Department of nuclear and particle physics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CB40362-C937-DC41-1963-5D32A2E464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413277" y="287640"/>
            <a:ext cx="2018722" cy="100936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85A54FE-C7F3-1592-3089-B92C2FC70491}"/>
              </a:ext>
            </a:extLst>
          </p:cNvPr>
          <p:cNvSpPr txBox="1"/>
          <p:nvPr userDrawn="1"/>
        </p:nvSpPr>
        <p:spPr>
          <a:xfrm>
            <a:off x="6631912" y="5220652"/>
            <a:ext cx="3335048" cy="357188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r" rtl="0" hangingPunct="0">
              <a:buNone/>
              <a:tabLst/>
            </a:pPr>
            <a:r>
              <a:rPr lang="en-US" sz="2000" b="1" i="0" u="none" strike="noStrike" kern="1200" spc="300" dirty="0">
                <a:ln>
                  <a:noFill/>
                </a:ln>
                <a:solidFill>
                  <a:srgbClr val="00826D"/>
                </a:solidFill>
                <a:effectLst/>
                <a:latin typeface="Arial" pitchFamily="18"/>
                <a:ea typeface="Microsoft YaHei" pitchFamily="2"/>
                <a:cs typeface="Mangal" pitchFamily="2"/>
              </a:rPr>
              <a:t>Lorenzo </a:t>
            </a:r>
            <a:r>
              <a:rPr lang="en-US" sz="2000" b="1" i="0" u="none" strike="noStrike" kern="1200" spc="300" dirty="0" err="1">
                <a:ln>
                  <a:noFill/>
                </a:ln>
                <a:solidFill>
                  <a:srgbClr val="00826D"/>
                </a:solidFill>
                <a:effectLst/>
                <a:latin typeface="Arial" pitchFamily="18"/>
                <a:ea typeface="Microsoft YaHei" pitchFamily="2"/>
                <a:cs typeface="Mangal" pitchFamily="2"/>
              </a:rPr>
              <a:t>Giannessi</a:t>
            </a:r>
            <a:endParaRPr lang="en-US" sz="2000" b="1" i="0" u="none" strike="noStrike" kern="1200" spc="300" dirty="0">
              <a:ln>
                <a:noFill/>
              </a:ln>
              <a:solidFill>
                <a:srgbClr val="00826D"/>
              </a:solidFill>
              <a:effectLst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BF8266-0EC8-879F-4EB4-3020A0B73D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74320" y="360720"/>
            <a:ext cx="2662623" cy="76640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58D0EE1-CA30-9113-A052-B175C240B0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7460" y="3745274"/>
            <a:ext cx="8694539" cy="341855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rgbClr val="00826D"/>
                </a:solidFill>
                <a:latin typeface="Athelas" panose="02000503000000020003" pitchFamily="2" charset="77"/>
              </a:defRPr>
            </a:lvl1pPr>
            <a:lvl2pPr marL="378013" indent="0" algn="ctr">
              <a:buNone/>
              <a:defRPr>
                <a:solidFill>
                  <a:srgbClr val="00826D"/>
                </a:solidFill>
              </a:defRPr>
            </a:lvl2pPr>
            <a:lvl3pPr marL="756026" indent="0" algn="ctr">
              <a:buNone/>
              <a:defRPr>
                <a:solidFill>
                  <a:srgbClr val="00826D"/>
                </a:solidFill>
              </a:defRPr>
            </a:lvl3pPr>
            <a:lvl4pPr marL="1134039" indent="0" algn="ctr">
              <a:buNone/>
              <a:defRPr>
                <a:solidFill>
                  <a:srgbClr val="00826D"/>
                </a:solidFill>
              </a:defRPr>
            </a:lvl4pPr>
            <a:lvl5pPr marL="1512052" indent="0" algn="ctr">
              <a:buNone/>
              <a:defRPr>
                <a:solidFill>
                  <a:srgbClr val="00826D"/>
                </a:solidFill>
              </a:defRPr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09B6CEB-E0B1-4ADF-F1CE-4741ABEBA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60" y="2228632"/>
            <a:ext cx="8694539" cy="1400091"/>
          </a:xfrm>
        </p:spPr>
        <p:txBody>
          <a:bodyPr>
            <a:normAutofit/>
          </a:bodyPr>
          <a:lstStyle>
            <a:lvl1pPr algn="ctr">
              <a:defRPr sz="4400">
                <a:solidFill>
                  <a:srgbClr val="00826D"/>
                </a:solidFill>
                <a:latin typeface="Athelas" panose="02000503000000020003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D247EAE-C274-4E98-E71F-DEFBEFFBA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8188" y="4186238"/>
            <a:ext cx="8693150" cy="357187"/>
          </a:xfrm>
        </p:spPr>
        <p:txBody>
          <a:bodyPr anchor="ctr"/>
          <a:lstStyle>
            <a:lvl1pPr marL="0" indent="0" algn="ctr">
              <a:buNone/>
              <a:defRPr sz="1400" b="0" i="0">
                <a:solidFill>
                  <a:srgbClr val="00826D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48677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2C82-C3ED-2216-B8EE-AE433101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317" y="-6302"/>
            <a:ext cx="7127364" cy="488731"/>
          </a:xfrm>
        </p:spPr>
        <p:txBody>
          <a:bodyPr>
            <a:noAutofit/>
          </a:bodyPr>
          <a:lstStyle>
            <a:lvl1pPr algn="r">
              <a:defRPr sz="3600" b="1">
                <a:solidFill>
                  <a:srgbClr val="00826D"/>
                </a:solidFill>
                <a:latin typeface="Athelas" panose="02000503000000020003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2E835-889E-ACAA-31F2-7C8315C23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6845"/>
            <a:ext cx="10080623" cy="4731801"/>
          </a:xfrm>
        </p:spPr>
        <p:txBody>
          <a:bodyPr/>
          <a:lstStyle>
            <a:lvl1pPr marL="189006" indent="-189006">
              <a:buClr>
                <a:srgbClr val="00826D"/>
              </a:buClr>
              <a:buFont typeface="Wingdings" pitchFamily="2" charset="2"/>
              <a:buChar char="Ø"/>
              <a:defRPr/>
            </a:lvl1pPr>
            <a:lvl2pPr marL="567019" indent="-189006">
              <a:buClr>
                <a:srgbClr val="00826D"/>
              </a:buClr>
              <a:buSzPct val="100000"/>
              <a:buFont typeface="Wingdings" pitchFamily="2" charset="2"/>
              <a:buChar char="v"/>
              <a:defRPr/>
            </a:lvl2pPr>
            <a:lvl3pPr marL="945032" indent="-189006">
              <a:buClr>
                <a:srgbClr val="00826D"/>
              </a:buClr>
              <a:buFont typeface="Wingdings" pitchFamily="2" charset="2"/>
              <a:buChar char="§"/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A3F333E-7E70-E688-8A07-BC08261F2C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-32829" y="-13257"/>
            <a:ext cx="1274039" cy="63702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B2A51EB5-BCB9-5EA7-90EE-F88CC5A5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913" y="534751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8E98EAC-B2AD-4735-06A0-6FA0AB86C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4054" y="5343780"/>
            <a:ext cx="3402211" cy="3019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Lorenzo Giannessi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3556678-067A-1EEF-AC6A-AEC8DC76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0233" y="5334155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fld id="{AA00C398-DFC9-C043-AD55-7D643954354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2" name="Picture 11" descr="A green and red text with a black background&#10;&#10;Description automatically generated">
            <a:extLst>
              <a:ext uri="{FF2B5EF4-FFF2-40B4-BE49-F238E27FC236}">
                <a16:creationId xmlns:a16="http://schemas.microsoft.com/office/drawing/2014/main" id="{12FDA43D-F463-2A15-8C89-4B5FB60491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51" y="5314018"/>
            <a:ext cx="670792" cy="335396"/>
          </a:xfrm>
          <a:prstGeom prst="rect">
            <a:avLst/>
          </a:prstGeom>
        </p:spPr>
      </p:pic>
      <p:pic>
        <p:nvPicPr>
          <p:cNvPr id="13" name="Picture 12" descr="A logo for a university&#10;&#10;Description automatically generated">
            <a:extLst>
              <a:ext uri="{FF2B5EF4-FFF2-40B4-BE49-F238E27FC236}">
                <a16:creationId xmlns:a16="http://schemas.microsoft.com/office/drawing/2014/main" id="{7D7F4E83-D42F-8839-FC7C-963B25B5A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142" t="11636" r="68238" b="43384"/>
          <a:stretch/>
        </p:blipFill>
        <p:spPr>
          <a:xfrm>
            <a:off x="767166" y="5334155"/>
            <a:ext cx="284624" cy="30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05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7622E-2BFD-9AF2-FD24-FEAC1C9B5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793" y="3794807"/>
            <a:ext cx="8694539" cy="1240432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1pPr>
            <a:lvl2pPr marL="378013" indent="0">
              <a:buNone/>
              <a:defRPr sz="1654">
                <a:solidFill>
                  <a:schemeClr val="tx1">
                    <a:tint val="75000"/>
                  </a:schemeClr>
                </a:solidFill>
              </a:defRPr>
            </a:lvl2pPr>
            <a:lvl3pPr marL="756026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403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205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90065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807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609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410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F1C870-93A0-2EA8-C7E1-56EBED4E234B}"/>
              </a:ext>
            </a:extLst>
          </p:cNvPr>
          <p:cNvSpPr txBox="1">
            <a:spLocks/>
          </p:cNvSpPr>
          <p:nvPr userDrawn="1"/>
        </p:nvSpPr>
        <p:spPr>
          <a:xfrm>
            <a:off x="1" y="5368646"/>
            <a:ext cx="2961184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l" defTabSz="914400" rtl="0" eaLnBrk="1" latinLnBrk="0" hangingPunct="1">
              <a:defRPr sz="1200" kern="1200">
                <a:solidFill>
                  <a:srgbClr val="0082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4A69DF-AA11-7A41-B30F-BB3554D5BB0E}" type="datetime3">
              <a:rPr lang="de-CH" smtClean="0"/>
              <a:pPr/>
              <a:t>07/02/2025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D20524E-5037-84AA-0D29-B9C3C690D45B}"/>
              </a:ext>
            </a:extLst>
          </p:cNvPr>
          <p:cNvSpPr txBox="1">
            <a:spLocks/>
          </p:cNvSpPr>
          <p:nvPr userDrawn="1"/>
        </p:nvSpPr>
        <p:spPr>
          <a:xfrm>
            <a:off x="3339207" y="5368646"/>
            <a:ext cx="3402211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ctr" defTabSz="914400" rtl="0" eaLnBrk="1" latinLnBrk="0" hangingPunct="1">
              <a:defRPr sz="1200" kern="1200">
                <a:solidFill>
                  <a:srgbClr val="0082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Lorenzo Giannessi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45954D6-AAD4-D606-597E-BDF5C6EE6274}"/>
              </a:ext>
            </a:extLst>
          </p:cNvPr>
          <p:cNvSpPr txBox="1">
            <a:spLocks/>
          </p:cNvSpPr>
          <p:nvPr userDrawn="1"/>
        </p:nvSpPr>
        <p:spPr>
          <a:xfrm>
            <a:off x="7801541" y="5368646"/>
            <a:ext cx="2268141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rgbClr val="0082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FC41D3-ADAE-B748-B3B9-59308641B3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AD58504-210B-5905-3CC4-356C081E6E36}"/>
              </a:ext>
            </a:extLst>
          </p:cNvPr>
          <p:cNvSpPr txBox="1">
            <a:spLocks/>
          </p:cNvSpPr>
          <p:nvPr userDrawn="1"/>
        </p:nvSpPr>
        <p:spPr>
          <a:xfrm>
            <a:off x="698293" y="1413700"/>
            <a:ext cx="8694539" cy="23587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9006" indent="-189006" algn="l" defTabSz="756026" rtl="0" eaLnBrk="1" latinLnBrk="0" hangingPunct="1">
              <a:lnSpc>
                <a:spcPct val="90000"/>
              </a:lnSpc>
              <a:spcBef>
                <a:spcPts val="827"/>
              </a:spcBef>
              <a:buFont typeface="Arial" panose="020B0604020202020204" pitchFamily="34" charset="0"/>
              <a:buChar char="•"/>
              <a:defRPr sz="23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7019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5032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6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3045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1058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9071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7084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5097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3110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567"/>
              </a:spcBef>
              <a:spcAft>
                <a:spcPts val="567"/>
              </a:spcAft>
              <a:buFont typeface="Arial" panose="020B0604020202020204" pitchFamily="34" charset="0"/>
              <a:buNone/>
            </a:pPr>
            <a:endParaRPr lang="en-US" sz="4800" b="1" spc="99" dirty="0">
              <a:solidFill>
                <a:srgbClr val="00826D"/>
              </a:solidFill>
              <a:latin typeface="Athelas" panose="02000503000000020003" pitchFamily="2" charset="77"/>
              <a:cs typeface="Angsana New" panose="02020603050405020304" pitchFamily="18" charset="-34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8E8A46-0947-D6FC-AA73-6D3B486C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93" y="1251679"/>
            <a:ext cx="8694539" cy="2531970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rgbClr val="00826D"/>
                </a:solidFill>
                <a:latin typeface="Athelas" panose="02000503000000020003" pitchFamily="2" charset="77"/>
                <a:cs typeface="Times New Roman" panose="02020603050405020304" pitchFamily="18" charset="0"/>
              </a:defRPr>
            </a:lvl1pPr>
          </a:lstStyle>
          <a:p>
            <a:r>
              <a:rPr lang="en-GB"/>
              <a:t>Click to edit Master title style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66700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EBF3CD-D42D-2214-1CF5-C9BE1B64D294}"/>
              </a:ext>
            </a:extLst>
          </p:cNvPr>
          <p:cNvSpPr/>
          <p:nvPr userDrawn="1"/>
        </p:nvSpPr>
        <p:spPr>
          <a:xfrm>
            <a:off x="5028586" y="-6303"/>
            <a:ext cx="5052821" cy="5676852"/>
          </a:xfrm>
          <a:prstGeom prst="rect">
            <a:avLst/>
          </a:prstGeom>
          <a:solidFill>
            <a:srgbClr val="00826D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16E9B5-D3BE-2B65-DE29-51BCC65C9411}"/>
              </a:ext>
            </a:extLst>
          </p:cNvPr>
          <p:cNvSpPr/>
          <p:nvPr userDrawn="1"/>
        </p:nvSpPr>
        <p:spPr>
          <a:xfrm>
            <a:off x="-12509" y="-6301"/>
            <a:ext cx="5052821" cy="5676852"/>
          </a:xfrm>
          <a:prstGeom prst="rect">
            <a:avLst/>
          </a:prstGeom>
          <a:solidFill>
            <a:srgbClr val="44C32F">
              <a:alpha val="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772A4-6D4C-2569-2E6C-36402E06B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627" y="732790"/>
            <a:ext cx="4890682" cy="437464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7A5CE-CC67-8CB8-D15A-AAABBA69F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03316" y="726487"/>
            <a:ext cx="4890682" cy="43809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99F8ED8-FA24-1244-5F5A-02F9DD8841CD}"/>
              </a:ext>
            </a:extLst>
          </p:cNvPr>
          <p:cNvSpPr txBox="1">
            <a:spLocks/>
          </p:cNvSpPr>
          <p:nvPr userDrawn="1"/>
        </p:nvSpPr>
        <p:spPr>
          <a:xfrm>
            <a:off x="1" y="5368646"/>
            <a:ext cx="2961184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l" defTabSz="914400" rtl="0" eaLnBrk="1" latinLnBrk="0" hangingPunct="1">
              <a:defRPr sz="1200" kern="1200">
                <a:solidFill>
                  <a:srgbClr val="0082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4A69DF-AA11-7A41-B30F-BB3554D5BB0E}" type="datetime3">
              <a:rPr lang="de-CH" smtClean="0"/>
              <a:pPr/>
              <a:t>07/02/2025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D3BE7F9-7CCE-9A97-7800-22B70A4FC35B}"/>
              </a:ext>
            </a:extLst>
          </p:cNvPr>
          <p:cNvSpPr txBox="1">
            <a:spLocks/>
          </p:cNvSpPr>
          <p:nvPr userDrawn="1"/>
        </p:nvSpPr>
        <p:spPr>
          <a:xfrm>
            <a:off x="3339207" y="5368646"/>
            <a:ext cx="3402211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ctr" defTabSz="914400" rtl="0" eaLnBrk="1" latinLnBrk="0" hangingPunct="1">
              <a:defRPr sz="1200" kern="1200">
                <a:solidFill>
                  <a:srgbClr val="0082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Lorenzo Giannessi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7D0B2F4-48F7-D5FB-D281-D2C76D2A7EE3}"/>
              </a:ext>
            </a:extLst>
          </p:cNvPr>
          <p:cNvSpPr txBox="1">
            <a:spLocks/>
          </p:cNvSpPr>
          <p:nvPr userDrawn="1"/>
        </p:nvSpPr>
        <p:spPr>
          <a:xfrm>
            <a:off x="7801541" y="5368646"/>
            <a:ext cx="2268141" cy="301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rgbClr val="00826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FC41D3-ADAE-B748-B3B9-59308641B3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1DAEBA7-9338-6276-0F14-D0AB9CFD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2317" y="-6302"/>
            <a:ext cx="7127364" cy="488731"/>
          </a:xfrm>
        </p:spPr>
        <p:txBody>
          <a:bodyPr>
            <a:noAutofit/>
          </a:bodyPr>
          <a:lstStyle>
            <a:lvl1pPr algn="r">
              <a:defRPr sz="3600" b="1">
                <a:solidFill>
                  <a:srgbClr val="00826D"/>
                </a:solidFill>
                <a:latin typeface="Athelas" panose="02000503000000020003" pitchFamily="2" charset="77"/>
              </a:defRPr>
            </a:lvl1pPr>
          </a:lstStyle>
          <a:p>
            <a:r>
              <a:rPr lang="en-GB"/>
              <a:t>Click to edit Master title style</a:t>
            </a:r>
            <a:endParaRPr lang="en-CH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06D084A-4368-B757-BC11-8A1D04A3E7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-32829" y="-13257"/>
            <a:ext cx="1274039" cy="637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8030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6717E-C8A8-6198-1FF6-66715E008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56" y="301905"/>
            <a:ext cx="8694539" cy="1096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37A5C-296C-F3F8-4FF1-5425901CA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357" y="1390073"/>
            <a:ext cx="4264576" cy="681253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13" indent="0">
              <a:buNone/>
              <a:defRPr sz="1654" b="1"/>
            </a:lvl2pPr>
            <a:lvl3pPr marL="756026" indent="0">
              <a:buNone/>
              <a:defRPr sz="1488" b="1"/>
            </a:lvl3pPr>
            <a:lvl4pPr marL="1134039" indent="0">
              <a:buNone/>
              <a:defRPr sz="1323" b="1"/>
            </a:lvl4pPr>
            <a:lvl5pPr marL="1512052" indent="0">
              <a:buNone/>
              <a:defRPr sz="1323" b="1"/>
            </a:lvl5pPr>
            <a:lvl6pPr marL="1890065" indent="0">
              <a:buNone/>
              <a:defRPr sz="1323" b="1"/>
            </a:lvl6pPr>
            <a:lvl7pPr marL="2268078" indent="0">
              <a:buNone/>
              <a:defRPr sz="1323" b="1"/>
            </a:lvl7pPr>
            <a:lvl8pPr marL="2646091" indent="0">
              <a:buNone/>
              <a:defRPr sz="1323" b="1"/>
            </a:lvl8pPr>
            <a:lvl9pPr marL="3024104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04257-7AAE-347C-0E2B-77F87276A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4357" y="2071326"/>
            <a:ext cx="4264576" cy="304660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99CA70-DD12-2529-2559-009F4B23B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316" y="1390073"/>
            <a:ext cx="4285579" cy="681253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8013" indent="0">
              <a:buNone/>
              <a:defRPr sz="1654" b="1"/>
            </a:lvl2pPr>
            <a:lvl3pPr marL="756026" indent="0">
              <a:buNone/>
              <a:defRPr sz="1488" b="1"/>
            </a:lvl3pPr>
            <a:lvl4pPr marL="1134039" indent="0">
              <a:buNone/>
              <a:defRPr sz="1323" b="1"/>
            </a:lvl4pPr>
            <a:lvl5pPr marL="1512052" indent="0">
              <a:buNone/>
              <a:defRPr sz="1323" b="1"/>
            </a:lvl5pPr>
            <a:lvl6pPr marL="1890065" indent="0">
              <a:buNone/>
              <a:defRPr sz="1323" b="1"/>
            </a:lvl6pPr>
            <a:lvl7pPr marL="2268078" indent="0">
              <a:buNone/>
              <a:defRPr sz="1323" b="1"/>
            </a:lvl7pPr>
            <a:lvl8pPr marL="2646091" indent="0">
              <a:buNone/>
              <a:defRPr sz="1323" b="1"/>
            </a:lvl8pPr>
            <a:lvl9pPr marL="3024104" indent="0">
              <a:buNone/>
              <a:defRPr sz="1323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D0502-9916-D50E-C3E3-C3AB9B094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316" y="2071326"/>
            <a:ext cx="4285579" cy="304660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9714C9-C055-48A9-DCFE-D3C9DAF46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7037A-F990-CEB5-F64E-DC094CC4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54158F-1983-2597-E7EA-47D785F2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fld id="{5EF6583E-836F-C842-83B1-11727D65D7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11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5ACB5-FFAD-CDB9-82D6-0A6B56D9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D3AF6-6BE0-C19D-1878-D9CBFB2E0C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25913" y="534751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83E30-3537-9834-BD4E-D5DFBC39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94054" y="5343780"/>
            <a:ext cx="340221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82035-17B5-5FC8-2676-DFBF26118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90233" y="5334155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fld id="{AA00C398-DFC9-C043-AD55-7D643954354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A green and red text with a black background&#10;&#10;Description automatically generated">
            <a:extLst>
              <a:ext uri="{FF2B5EF4-FFF2-40B4-BE49-F238E27FC236}">
                <a16:creationId xmlns:a16="http://schemas.microsoft.com/office/drawing/2014/main" id="{86EB0E07-65EA-EE56-DC2D-D2960201B7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51" y="5314018"/>
            <a:ext cx="670792" cy="335396"/>
          </a:xfrm>
          <a:prstGeom prst="rect">
            <a:avLst/>
          </a:prstGeom>
        </p:spPr>
      </p:pic>
      <p:pic>
        <p:nvPicPr>
          <p:cNvPr id="7" name="Picture 6" descr="A logo for a university&#10;&#10;Description automatically generated">
            <a:extLst>
              <a:ext uri="{FF2B5EF4-FFF2-40B4-BE49-F238E27FC236}">
                <a16:creationId xmlns:a16="http://schemas.microsoft.com/office/drawing/2014/main" id="{619B6AFC-2117-5CC0-698D-744D4532F2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142" t="11636" r="68238" b="43384"/>
          <a:stretch/>
        </p:blipFill>
        <p:spPr>
          <a:xfrm>
            <a:off x="767166" y="5334155"/>
            <a:ext cx="284624" cy="301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1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908E39-C436-6434-FADF-12AC8EB3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1E753A-00B5-D690-CDD1-08BED2ED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7385E-C0A7-D0FC-B345-DE6F5AD58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fld id="{24BCA9F1-8D99-B442-8277-8926345D8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3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4496B-7AA8-B947-9A6C-67394F17B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56" y="378037"/>
            <a:ext cx="3251264" cy="1323128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27BBF-76E5-E91A-0259-6439DFB0E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5579" y="816455"/>
            <a:ext cx="5103316" cy="4029766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4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788AA-47D7-C290-F3A6-CD766442B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4356" y="1701165"/>
            <a:ext cx="3251264" cy="3151619"/>
          </a:xfrm>
        </p:spPr>
        <p:txBody>
          <a:bodyPr/>
          <a:lstStyle>
            <a:lvl1pPr marL="0" indent="0">
              <a:buNone/>
              <a:defRPr sz="1323"/>
            </a:lvl1pPr>
            <a:lvl2pPr marL="378013" indent="0">
              <a:buNone/>
              <a:defRPr sz="1158"/>
            </a:lvl2pPr>
            <a:lvl3pPr marL="756026" indent="0">
              <a:buNone/>
              <a:defRPr sz="992"/>
            </a:lvl3pPr>
            <a:lvl4pPr marL="1134039" indent="0">
              <a:buNone/>
              <a:defRPr sz="827"/>
            </a:lvl4pPr>
            <a:lvl5pPr marL="1512052" indent="0">
              <a:buNone/>
              <a:defRPr sz="827"/>
            </a:lvl5pPr>
            <a:lvl6pPr marL="1890065" indent="0">
              <a:buNone/>
              <a:defRPr sz="827"/>
            </a:lvl6pPr>
            <a:lvl7pPr marL="2268078" indent="0">
              <a:buNone/>
              <a:defRPr sz="827"/>
            </a:lvl7pPr>
            <a:lvl8pPr marL="2646091" indent="0">
              <a:buNone/>
              <a:defRPr sz="827"/>
            </a:lvl8pPr>
            <a:lvl9pPr marL="3024104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65F623-73C4-4EC8-6863-B4A4296D4E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C897A5-DD5E-96B2-1BCF-93F2F3B4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ECC1B-8BA4-C1DB-B9BF-E4257135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fld id="{086CB99C-C241-BA49-8270-2427E3AA6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81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832D-8ABB-68F8-BFBD-C8110D610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356" y="378037"/>
            <a:ext cx="3251264" cy="1323128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944D50-CBD2-ADBC-59E1-5CEB035FAA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5579" y="816455"/>
            <a:ext cx="5103316" cy="4029766"/>
          </a:xfrm>
        </p:spPr>
        <p:txBody>
          <a:bodyPr/>
          <a:lstStyle>
            <a:lvl1pPr marL="0" indent="0">
              <a:buNone/>
              <a:defRPr sz="2646"/>
            </a:lvl1pPr>
            <a:lvl2pPr marL="378013" indent="0">
              <a:buNone/>
              <a:defRPr sz="2315"/>
            </a:lvl2pPr>
            <a:lvl3pPr marL="756026" indent="0">
              <a:buNone/>
              <a:defRPr sz="1984"/>
            </a:lvl3pPr>
            <a:lvl4pPr marL="1134039" indent="0">
              <a:buNone/>
              <a:defRPr sz="1654"/>
            </a:lvl4pPr>
            <a:lvl5pPr marL="1512052" indent="0">
              <a:buNone/>
              <a:defRPr sz="1654"/>
            </a:lvl5pPr>
            <a:lvl6pPr marL="1890065" indent="0">
              <a:buNone/>
              <a:defRPr sz="1654"/>
            </a:lvl6pPr>
            <a:lvl7pPr marL="2268078" indent="0">
              <a:buNone/>
              <a:defRPr sz="1654"/>
            </a:lvl7pPr>
            <a:lvl8pPr marL="2646091" indent="0">
              <a:buNone/>
              <a:defRPr sz="1654"/>
            </a:lvl8pPr>
            <a:lvl9pPr marL="3024104" indent="0">
              <a:buNone/>
              <a:defRPr sz="1654"/>
            </a:lvl9pPr>
          </a:lstStyle>
          <a:p>
            <a:r>
              <a:rPr lang="en-GB"/>
              <a:t>Click icon to add picture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C32A6-A81D-AAB2-4879-DCB58CF4E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4356" y="1701165"/>
            <a:ext cx="3251264" cy="3151619"/>
          </a:xfrm>
        </p:spPr>
        <p:txBody>
          <a:bodyPr/>
          <a:lstStyle>
            <a:lvl1pPr marL="0" indent="0">
              <a:buNone/>
              <a:defRPr sz="1323"/>
            </a:lvl1pPr>
            <a:lvl2pPr marL="378013" indent="0">
              <a:buNone/>
              <a:defRPr sz="1158"/>
            </a:lvl2pPr>
            <a:lvl3pPr marL="756026" indent="0">
              <a:buNone/>
              <a:defRPr sz="992"/>
            </a:lvl3pPr>
            <a:lvl4pPr marL="1134039" indent="0">
              <a:buNone/>
              <a:defRPr sz="827"/>
            </a:lvl4pPr>
            <a:lvl5pPr marL="1512052" indent="0">
              <a:buNone/>
              <a:defRPr sz="827"/>
            </a:lvl5pPr>
            <a:lvl6pPr marL="1890065" indent="0">
              <a:buNone/>
              <a:defRPr sz="827"/>
            </a:lvl6pPr>
            <a:lvl7pPr marL="2268078" indent="0">
              <a:buNone/>
              <a:defRPr sz="827"/>
            </a:lvl7pPr>
            <a:lvl8pPr marL="2646091" indent="0">
              <a:buNone/>
              <a:defRPr sz="827"/>
            </a:lvl8pPr>
            <a:lvl9pPr marL="3024104" indent="0">
              <a:buNone/>
              <a:defRPr sz="82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3ECC9F-EC22-4484-88C1-89664997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97499-E605-4DB6-B252-C50AAD909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8961D2-3F0E-D35D-7077-C603AAF1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fld id="{0D1317A1-E2FB-C542-8FAF-DFD9095EE2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D2C43-C91C-CDFA-AE2A-D015ACAC6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79139-26F0-25BE-91D3-A1186D555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13BE1-217E-50EA-6746-292B3CC5A1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AFA5F-B196-5E02-F388-D0200E07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F1D8F-0772-6A23-24E0-3C3B4C5F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fld id="{6718AD3B-242A-154E-B3D3-F1766136FF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75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D97D1-8E76-2C14-8465-2F58E6C241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947" y="301904"/>
            <a:ext cx="2173635" cy="480552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A12E1-0DAE-6663-DEF5-6AF7C5FD1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043" y="301904"/>
            <a:ext cx="6394896" cy="480552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0F7C0-06BA-2FE6-7294-37C46385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043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5C5A9-A3A8-7A7A-7BC3-DBB4C55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39207" y="5255760"/>
            <a:ext cx="3402211" cy="301904"/>
          </a:xfrm>
          <a:prstGeom prst="rect">
            <a:avLst/>
          </a:prstGeom>
        </p:spPr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21401-6CE3-3284-684F-E77D73DD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19441" y="5255760"/>
            <a:ext cx="2268141" cy="301904"/>
          </a:xfrm>
          <a:prstGeom prst="rect">
            <a:avLst/>
          </a:prstGeom>
        </p:spPr>
        <p:txBody>
          <a:bodyPr/>
          <a:lstStyle/>
          <a:p>
            <a:pPr lvl="0"/>
            <a:fld id="{7CC0A297-5F1B-4A4E-A9ED-DD77C3068A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187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0000"/>
            <a:duotone>
              <a:prstClr val="black"/>
              <a:schemeClr val="accent6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55000" contrast="-7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0D2E7A-CCB3-8480-44AA-2F1962FD6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43" y="301905"/>
            <a:ext cx="8694539" cy="10960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CD9C95-0CC5-E738-BB28-3548A4C02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043" y="1509521"/>
            <a:ext cx="8694539" cy="3597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8BB48B0-7A1C-7094-FB80-56317DAEE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" y="5368646"/>
            <a:ext cx="2961184" cy="30190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826D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D6BB4E6-6B85-791A-AEBF-24748B597F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9207" y="5368646"/>
            <a:ext cx="3402211" cy="301904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826D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D3FDAB8-4631-89D2-C620-CC1B42CF5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01541" y="5368646"/>
            <a:ext cx="2268141" cy="301904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00826D"/>
                </a:solidFill>
              </a:defRPr>
            </a:lvl1pPr>
          </a:lstStyle>
          <a:p>
            <a:fld id="{98FC41D3-ADAE-B748-B3B9-59308641B3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061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756026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06" indent="-189006" algn="l" defTabSz="756026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19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5032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058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071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084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097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110" indent="-189006" algn="l" defTabSz="75602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026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039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052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065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078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091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104" algn="l" defTabSz="75602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410.24099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73D657-F63B-AFBA-BE3E-97E56543B9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17558" y="4186238"/>
            <a:ext cx="5909911" cy="357187"/>
          </a:xfrm>
        </p:spPr>
        <p:txBody>
          <a:bodyPr/>
          <a:lstStyle/>
          <a:p>
            <a:r>
              <a:rPr lang="en-US" b="1" dirty="0"/>
              <a:t>February 10</a:t>
            </a:r>
            <a:r>
              <a:rPr lang="en-US" b="1" baseline="30000" dirty="0"/>
              <a:t>th</a:t>
            </a:r>
            <a:r>
              <a:rPr lang="en-US" b="1" dirty="0"/>
              <a:t>, 2025 - CERN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27CA521-01F3-7904-70E3-6977D0BBE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56" y="2135228"/>
            <a:ext cx="5909911" cy="1400091"/>
          </a:xfrm>
        </p:spPr>
        <p:txBody>
          <a:bodyPr/>
          <a:lstStyle/>
          <a:p>
            <a:r>
              <a:rPr lang="en-US" b="1" dirty="0"/>
              <a:t>CITIROC simulation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9EDB06F-0713-8CE2-462C-A7E3861480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17558" y="3745274"/>
            <a:ext cx="5909911" cy="341855"/>
          </a:xfrm>
        </p:spPr>
        <p:txBody>
          <a:bodyPr/>
          <a:lstStyle/>
          <a:p>
            <a:r>
              <a:rPr lang="en-US" b="1" dirty="0"/>
              <a:t>SFGD electronics meeting</a:t>
            </a:r>
          </a:p>
        </p:txBody>
      </p:sp>
    </p:spTree>
    <p:extLst>
      <p:ext uri="{BB962C8B-B14F-4D97-AF65-F5344CB8AC3E}">
        <p14:creationId xmlns:p14="http://schemas.microsoft.com/office/powerpoint/2010/main" val="3467548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0412-24A7-03F8-7237-5E6118585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B788A-EC7B-1B3D-E431-0A707BE2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00C398-DFC9-C043-AD55-7D643954354E}" type="slidenum">
              <a:rPr lang="en-US" smtClean="0"/>
              <a:t>1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F0C270B-242F-186D-35AC-D46BECB0F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6845"/>
            <a:ext cx="10080623" cy="473180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Why</a:t>
            </a:r>
          </a:p>
          <a:p>
            <a:pPr lvl="1"/>
            <a:r>
              <a:rPr lang="en-US" dirty="0"/>
              <a:t>Detach from datasheet parameters</a:t>
            </a:r>
          </a:p>
          <a:p>
            <a:pPr lvl="1"/>
            <a:r>
              <a:rPr lang="en-US" dirty="0"/>
              <a:t>Understand time resolution</a:t>
            </a:r>
          </a:p>
          <a:p>
            <a:pPr lvl="1"/>
            <a:r>
              <a:rPr lang="en-US" dirty="0"/>
              <a:t>(Hopefully) understand  pedestal calibration</a:t>
            </a:r>
          </a:p>
          <a:p>
            <a:r>
              <a:rPr lang="en-US" dirty="0"/>
              <a:t>What</a:t>
            </a:r>
          </a:p>
          <a:p>
            <a:pPr lvl="1"/>
            <a:r>
              <a:rPr lang="en-US" dirty="0"/>
              <a:t>Simulate the signal response: </a:t>
            </a:r>
          </a:p>
          <a:p>
            <a:pPr lvl="2"/>
            <a:r>
              <a:rPr lang="en-US" dirty="0"/>
              <a:t>Input: </a:t>
            </a:r>
            <a:r>
              <a:rPr lang="en-US" dirty="0">
                <a:hlinkClick r:id="rId2"/>
              </a:rPr>
              <a:t>optical simulation </a:t>
            </a:r>
            <a:endParaRPr lang="en-US" dirty="0"/>
          </a:p>
          <a:p>
            <a:pPr lvl="2"/>
            <a:r>
              <a:rPr lang="en-US" dirty="0"/>
              <a:t>MPPC model</a:t>
            </a:r>
          </a:p>
          <a:p>
            <a:pPr lvl="2"/>
            <a:r>
              <a:rPr lang="en-US" dirty="0"/>
              <a:t>Preamplifier (HG and LG)</a:t>
            </a:r>
          </a:p>
          <a:p>
            <a:pPr lvl="2"/>
            <a:r>
              <a:rPr lang="en-US" dirty="0"/>
              <a:t>Shapers (fast shaper for timing, slow shaper for charge)</a:t>
            </a:r>
          </a:p>
          <a:p>
            <a:pPr lvl="2"/>
            <a:r>
              <a:rPr lang="en-US" dirty="0"/>
              <a:t>Discriminator (</a:t>
            </a:r>
            <a:r>
              <a:rPr lang="en-US" sz="1400" dirty="0">
                <a:latin typeface="Monaco" pitchFamily="2" charset="77"/>
              </a:rPr>
              <a:t>DAC10b</a:t>
            </a:r>
            <a:r>
              <a:rPr lang="en-US" dirty="0"/>
              <a:t>/</a:t>
            </a:r>
            <a:r>
              <a:rPr lang="en-US" sz="1400" dirty="0">
                <a:latin typeface="Monaco" pitchFamily="2" charset="77"/>
              </a:rPr>
              <a:t>DAC10b_t</a:t>
            </a:r>
            <a:r>
              <a:rPr lang="en-US" dirty="0"/>
              <a:t>) and discrete time stamp</a:t>
            </a:r>
          </a:p>
          <a:p>
            <a:r>
              <a:rPr lang="en-US" dirty="0"/>
              <a:t>How</a:t>
            </a:r>
          </a:p>
          <a:p>
            <a:pPr lvl="1"/>
            <a:r>
              <a:rPr lang="en-US" dirty="0"/>
              <a:t>Solve the circuit in Laplace space</a:t>
            </a:r>
          </a:p>
          <a:p>
            <a:pPr lvl="1"/>
            <a:r>
              <a:rPr lang="en-US" dirty="0"/>
              <a:t>Numerically inverse-Laplace-transform</a:t>
            </a:r>
          </a:p>
          <a:p>
            <a:pPr lvl="1"/>
            <a:r>
              <a:rPr lang="en-US" dirty="0"/>
              <a:t>Include tolerances (next step)</a:t>
            </a:r>
          </a:p>
        </p:txBody>
      </p:sp>
    </p:spTree>
    <p:extLst>
      <p:ext uri="{BB962C8B-B14F-4D97-AF65-F5344CB8AC3E}">
        <p14:creationId xmlns:p14="http://schemas.microsoft.com/office/powerpoint/2010/main" val="115286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8DFAF-E31B-4AAE-DA41-DE593315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89F557A-9B9D-00BD-26D4-033E43466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577" t="7827" r="15163" b="15900"/>
          <a:stretch/>
        </p:blipFill>
        <p:spPr>
          <a:xfrm rot="5400000">
            <a:off x="2729170" y="-565645"/>
            <a:ext cx="4622283" cy="67184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4C62F-2247-4100-7D7D-CE9AD949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00C398-DFC9-C043-AD55-7D643954354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19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8DFBF8-6F81-F6BB-0EE8-4D759AA5D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33DF51-B62E-0CD7-1F8A-BBAC4CB32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up</a:t>
            </a:r>
          </a:p>
        </p:txBody>
      </p:sp>
    </p:spTree>
    <p:extLst>
      <p:ext uri="{BB962C8B-B14F-4D97-AF65-F5344CB8AC3E}">
        <p14:creationId xmlns:p14="http://schemas.microsoft.com/office/powerpoint/2010/main" val="3541991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FEE5A3-B28C-C054-35AA-E0A19E786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6846"/>
            <a:ext cx="10080623" cy="2198430"/>
          </a:xfrm>
        </p:spPr>
        <p:txBody>
          <a:bodyPr/>
          <a:lstStyle/>
          <a:p>
            <a:r>
              <a:rPr lang="en-US" dirty="0"/>
              <a:t>Fast shaper (15 ns): time stamping</a:t>
            </a:r>
          </a:p>
          <a:p>
            <a:r>
              <a:rPr lang="en-US" dirty="0"/>
              <a:t>Slow shaper (50 ns): charge measurement</a:t>
            </a:r>
          </a:p>
          <a:p>
            <a:pPr lvl="1"/>
            <a:r>
              <a:rPr lang="en-US" dirty="0"/>
              <a:t>We use this to parametrize time walk!</a:t>
            </a:r>
          </a:p>
          <a:p>
            <a:pPr marL="0" indent="0">
              <a:buNone/>
            </a:pPr>
            <a:r>
              <a:rPr lang="en-US" dirty="0"/>
              <a:t>The charges that these two shapers measure can be different.</a:t>
            </a:r>
          </a:p>
          <a:p>
            <a:pPr marL="0" indent="0">
              <a:buNone/>
            </a:pPr>
            <a:r>
              <a:rPr lang="en-US" dirty="0"/>
              <a:t>Simulation of the shaper: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FA60D6-8612-8884-DF9F-05E3EF076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FC2615-C776-E88C-00A5-FA352C7653E5}"/>
                  </a:ext>
                </a:extLst>
              </p:cNvPr>
              <p:cNvSpPr txBox="1"/>
              <p:nvPr/>
            </p:nvSpPr>
            <p:spPr>
              <a:xfrm>
                <a:off x="3286922" y="2170101"/>
                <a:ext cx="8407567" cy="5254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      where: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7FC2615-C776-E88C-00A5-FA352C765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6922" y="2170101"/>
                <a:ext cx="8407567" cy="525465"/>
              </a:xfrm>
              <a:prstGeom prst="rect">
                <a:avLst/>
              </a:prstGeom>
              <a:blipFill>
                <a:blip r:embed="rId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92FCDE5-434E-C33F-2B6C-D894132162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6340" y="2639664"/>
            <a:ext cx="2927019" cy="2105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9B1BDD-FA69-AD34-921E-47EF2B993B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84867" y="2639664"/>
            <a:ext cx="2927019" cy="21053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A76886-0461-8F97-D79A-B8875C2D06F2}"/>
              </a:ext>
            </a:extLst>
          </p:cNvPr>
          <p:cNvCxnSpPr>
            <a:cxnSpLocks/>
          </p:cNvCxnSpPr>
          <p:nvPr/>
        </p:nvCxnSpPr>
        <p:spPr>
          <a:xfrm>
            <a:off x="4481278" y="3699434"/>
            <a:ext cx="102437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47B16613-BB58-EEB9-9A91-AC3F5F12C76B}"/>
              </a:ext>
            </a:extLst>
          </p:cNvPr>
          <p:cNvSpPr txBox="1">
            <a:spLocks/>
          </p:cNvSpPr>
          <p:nvPr/>
        </p:nvSpPr>
        <p:spPr>
          <a:xfrm>
            <a:off x="-1" y="4745062"/>
            <a:ext cx="10080623" cy="738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9006" indent="-189006" algn="l" defTabSz="756026" rtl="0" eaLnBrk="1" latinLnBrk="0" hangingPunct="1">
              <a:lnSpc>
                <a:spcPct val="90000"/>
              </a:lnSpc>
              <a:spcBef>
                <a:spcPts val="827"/>
              </a:spcBef>
              <a:buClr>
                <a:srgbClr val="00826D"/>
              </a:buClr>
              <a:buFont typeface="Wingdings" pitchFamily="2" charset="2"/>
              <a:buChar char="Ø"/>
              <a:defRPr sz="23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7019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Clr>
                <a:srgbClr val="00826D"/>
              </a:buClr>
              <a:buSzPct val="100000"/>
              <a:buFont typeface="Wingdings" pitchFamily="2" charset="2"/>
              <a:buChar char="v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5032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Clr>
                <a:srgbClr val="00826D"/>
              </a:buClr>
              <a:buFont typeface="Wingdings" pitchFamily="2" charset="2"/>
              <a:buChar char="§"/>
              <a:defRPr sz="16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3045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1058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9071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7084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5097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3110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NB</a:t>
            </a:r>
            <a:r>
              <a:rPr lang="en-US" dirty="0"/>
              <a:t>: I am using a fiber simulation by </a:t>
            </a:r>
            <a:r>
              <a:rPr lang="en-US" dirty="0" err="1"/>
              <a:t>Kikawa-san</a:t>
            </a:r>
            <a:r>
              <a:rPr lang="en-US" dirty="0"/>
              <a:t>. Simulate all photons at once in the fiber. With </a:t>
            </a:r>
            <a:r>
              <a:rPr lang="en-US" dirty="0" err="1"/>
              <a:t>Botao’s</a:t>
            </a:r>
            <a:r>
              <a:rPr lang="en-US" dirty="0"/>
              <a:t> simulation we include the scintillation decay time.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A2AF8A-B8C2-788C-DF41-5758984689BE}"/>
              </a:ext>
            </a:extLst>
          </p:cNvPr>
          <p:cNvSpPr txBox="1"/>
          <p:nvPr/>
        </p:nvSpPr>
        <p:spPr>
          <a:xfrm>
            <a:off x="2897567" y="3165129"/>
            <a:ext cx="1566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Opt</a:t>
            </a:r>
            <a:r>
              <a:rPr lang="en-US" sz="1400" dirty="0"/>
              <a:t> sim by </a:t>
            </a:r>
          </a:p>
          <a:p>
            <a:r>
              <a:rPr lang="en-US" sz="1400" dirty="0" err="1"/>
              <a:t>Kikawa-san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209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8861A7-A2F8-D768-D239-C6BA36E5F4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4290"/>
            <a:ext cx="10080623" cy="597699"/>
          </a:xfrm>
        </p:spPr>
        <p:txBody>
          <a:bodyPr/>
          <a:lstStyle/>
          <a:p>
            <a:r>
              <a:rPr lang="en-US" dirty="0"/>
              <a:t>Time stamp: a fixed threshold on the FSH output. Threshold set to 3.5 </a:t>
            </a:r>
            <a:r>
              <a:rPr lang="en-US" dirty="0" err="1"/>
              <a:t>p.e.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D0BDC9-16A8-E06B-6E00-AC354D56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stamping and time walk</a:t>
            </a:r>
          </a:p>
        </p:txBody>
      </p:sp>
      <p:pic>
        <p:nvPicPr>
          <p:cNvPr id="7" name="Picture 6" descr="A red graph with white text&#10;&#10;Description automatically generated">
            <a:extLst>
              <a:ext uri="{FF2B5EF4-FFF2-40B4-BE49-F238E27FC236}">
                <a16:creationId xmlns:a16="http://schemas.microsoft.com/office/drawing/2014/main" id="{DAF8B3EE-E4E7-FCBE-BE6E-6C8372AFD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99" b="3350"/>
          <a:stretch/>
        </p:blipFill>
        <p:spPr>
          <a:xfrm>
            <a:off x="4100362" y="1125386"/>
            <a:ext cx="5775379" cy="41011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5A63C9-783A-4C7D-6F8C-02DFC8B9BCB8}"/>
              </a:ext>
            </a:extLst>
          </p:cNvPr>
          <p:cNvSpPr txBox="1"/>
          <p:nvPr/>
        </p:nvSpPr>
        <p:spPr>
          <a:xfrm rot="16200000">
            <a:off x="3609203" y="2006317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amplitude [</a:t>
            </a:r>
            <a:r>
              <a:rPr lang="en-US" sz="1400" dirty="0" err="1"/>
              <a:t>a.u</a:t>
            </a:r>
            <a:r>
              <a:rPr lang="en-US" sz="1400" dirty="0"/>
              <a:t>.]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D6756A-87D7-854D-A224-73EE6AB82DA3}"/>
              </a:ext>
            </a:extLst>
          </p:cNvPr>
          <p:cNvSpPr txBox="1"/>
          <p:nvPr/>
        </p:nvSpPr>
        <p:spPr>
          <a:xfrm>
            <a:off x="8622362" y="5072629"/>
            <a:ext cx="833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time [ns]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F3037C-1360-7177-C193-33F56269F617}"/>
              </a:ext>
            </a:extLst>
          </p:cNvPr>
          <p:cNvCxnSpPr>
            <a:cxnSpLocks/>
          </p:cNvCxnSpPr>
          <p:nvPr/>
        </p:nvCxnSpPr>
        <p:spPr>
          <a:xfrm>
            <a:off x="4687503" y="4129238"/>
            <a:ext cx="476874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FE67C0F-A249-FFAB-B6FC-A702FF2161F7}"/>
              </a:ext>
            </a:extLst>
          </p:cNvPr>
          <p:cNvCxnSpPr>
            <a:cxnSpLocks/>
          </p:cNvCxnSpPr>
          <p:nvPr/>
        </p:nvCxnSpPr>
        <p:spPr>
          <a:xfrm>
            <a:off x="5736657" y="4129238"/>
            <a:ext cx="0" cy="808522"/>
          </a:xfrm>
          <a:prstGeom prst="straightConnector1">
            <a:avLst/>
          </a:prstGeom>
          <a:ln w="28575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3AF23FF0-BFC6-EAF5-4D38-77ED2BC28D25}"/>
              </a:ext>
            </a:extLst>
          </p:cNvPr>
          <p:cNvSpPr txBox="1">
            <a:spLocks/>
          </p:cNvSpPr>
          <p:nvPr/>
        </p:nvSpPr>
        <p:spPr>
          <a:xfrm>
            <a:off x="0" y="1484379"/>
            <a:ext cx="4063126" cy="3884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9006" indent="-189006" algn="l" defTabSz="756026" rtl="0" eaLnBrk="1" latinLnBrk="0" hangingPunct="1">
              <a:lnSpc>
                <a:spcPct val="90000"/>
              </a:lnSpc>
              <a:spcBef>
                <a:spcPts val="827"/>
              </a:spcBef>
              <a:buClr>
                <a:srgbClr val="00826D"/>
              </a:buClr>
              <a:buFont typeface="Wingdings" pitchFamily="2" charset="2"/>
              <a:buChar char="Ø"/>
              <a:defRPr sz="23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7019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Clr>
                <a:srgbClr val="00826D"/>
              </a:buClr>
              <a:buSzPct val="100000"/>
              <a:buFont typeface="Wingdings" pitchFamily="2" charset="2"/>
              <a:buChar char="v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5032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Clr>
                <a:srgbClr val="00826D"/>
              </a:buClr>
              <a:buFont typeface="Wingdings" pitchFamily="2" charset="2"/>
              <a:buChar char="§"/>
              <a:defRPr sz="16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3045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1058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9071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7084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5097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3110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Time walk = time difference between </a:t>
            </a:r>
            <a:r>
              <a:rPr lang="en-US" dirty="0" err="1"/>
              <a:t>t</a:t>
            </a:r>
            <a:r>
              <a:rPr lang="en-US" baseline="-25000" dirty="0" err="1"/>
              <a:t>threshold</a:t>
            </a:r>
            <a:r>
              <a:rPr lang="en-US" dirty="0"/>
              <a:t> and t</a:t>
            </a:r>
            <a:r>
              <a:rPr lang="en-US" baseline="-25000" dirty="0"/>
              <a:t>0</a:t>
            </a:r>
            <a:r>
              <a:rPr lang="en-US" dirty="0"/>
              <a:t> on the </a:t>
            </a:r>
            <a:r>
              <a:rPr lang="en-US" b="1" dirty="0"/>
              <a:t>FSH</a:t>
            </a:r>
            <a:r>
              <a:rPr lang="en-US" dirty="0"/>
              <a:t> signal 	</a:t>
            </a:r>
          </a:p>
          <a:p>
            <a:r>
              <a:rPr lang="en-US" dirty="0"/>
              <a:t>In real life, we parametrize it as a function of the SSH signal amplitude</a:t>
            </a:r>
          </a:p>
          <a:p>
            <a:r>
              <a:rPr lang="en-US" dirty="0"/>
              <a:t>No problem </a:t>
            </a:r>
            <a:r>
              <a:rPr lang="en-US" b="1" dirty="0"/>
              <a:t>if FSH = SSH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A7CCA53-C50B-C975-66EB-EFE9BDBEBA63}"/>
              </a:ext>
            </a:extLst>
          </p:cNvPr>
          <p:cNvCxnSpPr/>
          <p:nvPr/>
        </p:nvCxnSpPr>
        <p:spPr>
          <a:xfrm>
            <a:off x="5476775" y="4109988"/>
            <a:ext cx="25988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348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signal&#10;&#10;Description automatically generated">
            <a:extLst>
              <a:ext uri="{FF2B5EF4-FFF2-40B4-BE49-F238E27FC236}">
                <a16:creationId xmlns:a16="http://schemas.microsoft.com/office/drawing/2014/main" id="{B2CCBE79-55C0-B2A6-EA94-FB615545F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126"/>
          <a:stretch/>
        </p:blipFill>
        <p:spPr>
          <a:xfrm>
            <a:off x="0" y="2040556"/>
            <a:ext cx="5054600" cy="340971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68F2A56-0786-0A15-8806-6441239C0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+ reflected pulse</a:t>
            </a:r>
          </a:p>
        </p:txBody>
      </p:sp>
      <p:pic>
        <p:nvPicPr>
          <p:cNvPr id="7" name="Picture 6" descr="A graph of a graph showing a number of lines&#10;&#10;Description automatically generated with medium confidence">
            <a:extLst>
              <a:ext uri="{FF2B5EF4-FFF2-40B4-BE49-F238E27FC236}">
                <a16:creationId xmlns:a16="http://schemas.microsoft.com/office/drawing/2014/main" id="{BB220877-E629-4064-B8DB-40CC02886E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126"/>
          <a:stretch/>
        </p:blipFill>
        <p:spPr>
          <a:xfrm>
            <a:off x="5026025" y="2040556"/>
            <a:ext cx="5054600" cy="34097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791DFA-0B86-5B16-A623-2B533FC65772}"/>
              </a:ext>
            </a:extLst>
          </p:cNvPr>
          <p:cNvSpPr txBox="1"/>
          <p:nvPr/>
        </p:nvSpPr>
        <p:spPr>
          <a:xfrm>
            <a:off x="6814687" y="2242686"/>
            <a:ext cx="1788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Distance: 160 cm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CD174-9F1E-E1A6-CB68-2A1EE4C54F4D}"/>
              </a:ext>
            </a:extLst>
          </p:cNvPr>
          <p:cNvSpPr txBox="1"/>
          <p:nvPr/>
        </p:nvSpPr>
        <p:spPr>
          <a:xfrm>
            <a:off x="1477243" y="2242686"/>
            <a:ext cx="1671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Distance: 60 cm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1A8023-706C-B22E-54B7-4447C592D22F}"/>
              </a:ext>
            </a:extLst>
          </p:cNvPr>
          <p:cNvCxnSpPr>
            <a:cxnSpLocks/>
          </p:cNvCxnSpPr>
          <p:nvPr/>
        </p:nvCxnSpPr>
        <p:spPr>
          <a:xfrm>
            <a:off x="500514" y="3986045"/>
            <a:ext cx="40522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31CBDF3-15EC-06A2-3454-CFAA426F67D9}"/>
              </a:ext>
            </a:extLst>
          </p:cNvPr>
          <p:cNvCxnSpPr>
            <a:cxnSpLocks/>
          </p:cNvCxnSpPr>
          <p:nvPr/>
        </p:nvCxnSpPr>
        <p:spPr>
          <a:xfrm>
            <a:off x="5513672" y="4157696"/>
            <a:ext cx="40522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BD836114-60B7-CA93-64D9-B1FD0E54C492}"/>
              </a:ext>
            </a:extLst>
          </p:cNvPr>
          <p:cNvSpPr txBox="1">
            <a:spLocks/>
          </p:cNvSpPr>
          <p:nvPr/>
        </p:nvSpPr>
        <p:spPr>
          <a:xfrm>
            <a:off x="0" y="636846"/>
            <a:ext cx="10080623" cy="134545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9006" indent="-189006" algn="l" defTabSz="756026" rtl="0" eaLnBrk="1" latinLnBrk="0" hangingPunct="1">
              <a:lnSpc>
                <a:spcPct val="90000"/>
              </a:lnSpc>
              <a:spcBef>
                <a:spcPts val="827"/>
              </a:spcBef>
              <a:buClr>
                <a:srgbClr val="00826D"/>
              </a:buClr>
              <a:buFont typeface="Wingdings" pitchFamily="2" charset="2"/>
              <a:buChar char="Ø"/>
              <a:defRPr sz="231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7019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Clr>
                <a:srgbClr val="00826D"/>
              </a:buClr>
              <a:buSzPct val="100000"/>
              <a:buFont typeface="Wingdings" pitchFamily="2" charset="2"/>
              <a:buChar char="v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45032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Clr>
                <a:srgbClr val="00826D"/>
              </a:buClr>
              <a:buFont typeface="Wingdings" pitchFamily="2" charset="2"/>
              <a:buChar char="§"/>
              <a:defRPr sz="165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3045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01058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9071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57084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35097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13110" indent="-189006" algn="l" defTabSz="756026" rtl="0" eaLnBrk="1" latinLnBrk="0" hangingPunct="1">
              <a:lnSpc>
                <a:spcPct val="90000"/>
              </a:lnSpc>
              <a:spcBef>
                <a:spcPts val="413"/>
              </a:spcBef>
              <a:buFont typeface="Arial" panose="020B0604020202020204" pitchFamily="34" charset="0"/>
              <a:buChar char="•"/>
              <a:defRPr sz="14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SSH integrates also the reflected signal</a:t>
            </a:r>
          </a:p>
          <a:p>
            <a:r>
              <a:rPr lang="en-US" dirty="0"/>
              <a:t>But the time (and time walk) only depend on the direct signal</a:t>
            </a:r>
          </a:p>
          <a:p>
            <a:r>
              <a:rPr lang="en-US" dirty="0"/>
              <a:t>FSH and SSH measure the same charge only for signals from the far end of the fiber</a:t>
            </a:r>
          </a:p>
          <a:p>
            <a:pPr lvl="1"/>
            <a:r>
              <a:rPr lang="en-US" dirty="0"/>
              <a:t>And signal very close to the MPPC</a:t>
            </a:r>
          </a:p>
        </p:txBody>
      </p:sp>
    </p:spTree>
    <p:extLst>
      <p:ext uri="{BB962C8B-B14F-4D97-AF65-F5344CB8AC3E}">
        <p14:creationId xmlns:p14="http://schemas.microsoft.com/office/powerpoint/2010/main" val="1407668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37A514-D57D-FEC7-57F9-7B9F18E86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6845"/>
            <a:ext cx="10080623" cy="418977"/>
          </a:xfrm>
        </p:spPr>
        <p:txBody>
          <a:bodyPr/>
          <a:lstStyle/>
          <a:p>
            <a:r>
              <a:rPr lang="en-US" dirty="0"/>
              <a:t>Maybe the time walk we apply at large distances is wrong?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CFF0D7-EBCB-5653-03A6-5C27CA53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walk - 1</a:t>
            </a:r>
          </a:p>
        </p:txBody>
      </p:sp>
      <p:pic>
        <p:nvPicPr>
          <p:cNvPr id="9" name="Picture 8" descr="A graph of a line&#10;&#10;Description automatically generated">
            <a:extLst>
              <a:ext uri="{FF2B5EF4-FFF2-40B4-BE49-F238E27FC236}">
                <a16:creationId xmlns:a16="http://schemas.microsoft.com/office/drawing/2014/main" id="{3B797ED2-5A4D-0A7C-4669-1D5731FC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371" y="2608448"/>
            <a:ext cx="3509334" cy="2555234"/>
          </a:xfrm>
          <a:prstGeom prst="rect">
            <a:avLst/>
          </a:prstGeom>
        </p:spPr>
      </p:pic>
      <p:pic>
        <p:nvPicPr>
          <p:cNvPr id="7" name="Picture 6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4E83CE1F-8C6E-112E-EBC7-FF6E4110E1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298" y="2606329"/>
            <a:ext cx="3490356" cy="2560324"/>
          </a:xfrm>
          <a:prstGeom prst="rect">
            <a:avLst/>
          </a:prstGeom>
        </p:spPr>
      </p:pic>
      <p:pic>
        <p:nvPicPr>
          <p:cNvPr id="5" name="Picture 4" descr="A graph of a line&#10;&#10;Description automatically generated">
            <a:extLst>
              <a:ext uri="{FF2B5EF4-FFF2-40B4-BE49-F238E27FC236}">
                <a16:creationId xmlns:a16="http://schemas.microsoft.com/office/drawing/2014/main" id="{510F0C7A-6832-9933-29F3-56F5D992F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36" y="2604447"/>
            <a:ext cx="3509335" cy="25592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588B6B3-63EE-6F8D-683B-DC664424646A}"/>
              </a:ext>
            </a:extLst>
          </p:cNvPr>
          <p:cNvSpPr txBox="1"/>
          <p:nvPr/>
        </p:nvSpPr>
        <p:spPr>
          <a:xfrm>
            <a:off x="21537" y="1010652"/>
            <a:ext cx="3271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Long</a:t>
            </a:r>
            <a:r>
              <a:rPr lang="en-US" dirty="0"/>
              <a:t> distance: the reflected pulse comes together with the direct pulse: No difference between FSH and SSH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47689-D2A0-6541-FEFB-7AE070DBFF64}"/>
              </a:ext>
            </a:extLst>
          </p:cNvPr>
          <p:cNvSpPr txBox="1"/>
          <p:nvPr/>
        </p:nvSpPr>
        <p:spPr>
          <a:xfrm>
            <a:off x="3296411" y="1007680"/>
            <a:ext cx="3249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Medium</a:t>
            </a:r>
            <a:r>
              <a:rPr lang="en-US" dirty="0"/>
              <a:t> distance: the reflected pulse is delayed and consistent. </a:t>
            </a:r>
            <a:r>
              <a:rPr lang="en-US" i="1" dirty="0"/>
              <a:t>Maximum</a:t>
            </a:r>
            <a:r>
              <a:rPr lang="en-US" dirty="0"/>
              <a:t> difference between FSH and SSH.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518245-7E6F-7068-8993-C1167819EF0D}"/>
              </a:ext>
            </a:extLst>
          </p:cNvPr>
          <p:cNvSpPr txBox="1"/>
          <p:nvPr/>
        </p:nvSpPr>
        <p:spPr>
          <a:xfrm>
            <a:off x="6565620" y="1004709"/>
            <a:ext cx="3509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Small</a:t>
            </a:r>
            <a:r>
              <a:rPr lang="en-US" dirty="0"/>
              <a:t> distance: the reflected pulse is attenuated with respect to the direct pulse. The effect is small.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DCB84E-F71A-EDF2-6E4C-1FAAD29E6501}"/>
              </a:ext>
            </a:extLst>
          </p:cNvPr>
          <p:cNvSpPr txBox="1"/>
          <p:nvPr/>
        </p:nvSpPr>
        <p:spPr>
          <a:xfrm>
            <a:off x="3848356" y="5163681"/>
            <a:ext cx="32312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FSH-SSH time walk difference &lt; 200 </a:t>
            </a:r>
            <a:r>
              <a:rPr lang="en-US" sz="1200" dirty="0" err="1"/>
              <a:t>ps</a:t>
            </a:r>
            <a:endParaRPr lang="en-US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43375C2-9EFB-7333-082F-AC45C6C57E8B}"/>
              </a:ext>
            </a:extLst>
          </p:cNvPr>
          <p:cNvCxnSpPr/>
          <p:nvPr/>
        </p:nvCxnSpPr>
        <p:spPr>
          <a:xfrm>
            <a:off x="4061859" y="2329313"/>
            <a:ext cx="1906993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rapezium 15">
            <a:extLst>
              <a:ext uri="{FF2B5EF4-FFF2-40B4-BE49-F238E27FC236}">
                <a16:creationId xmlns:a16="http://schemas.microsoft.com/office/drawing/2014/main" id="{8086F454-BAD1-F9CF-3B0C-83AC6073EAC0}"/>
              </a:ext>
            </a:extLst>
          </p:cNvPr>
          <p:cNvSpPr/>
          <p:nvPr/>
        </p:nvSpPr>
        <p:spPr>
          <a:xfrm rot="16200000">
            <a:off x="3893417" y="2276374"/>
            <a:ext cx="231006" cy="105878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932542-96DF-36A8-DEE1-1398DF8957EE}"/>
              </a:ext>
            </a:extLst>
          </p:cNvPr>
          <p:cNvCxnSpPr/>
          <p:nvPr/>
        </p:nvCxnSpPr>
        <p:spPr>
          <a:xfrm>
            <a:off x="808786" y="2328050"/>
            <a:ext cx="1906993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rapezium 17">
            <a:extLst>
              <a:ext uri="{FF2B5EF4-FFF2-40B4-BE49-F238E27FC236}">
                <a16:creationId xmlns:a16="http://schemas.microsoft.com/office/drawing/2014/main" id="{094E8CC7-C51B-BA42-90E1-5264925DD95A}"/>
              </a:ext>
            </a:extLst>
          </p:cNvPr>
          <p:cNvSpPr/>
          <p:nvPr/>
        </p:nvSpPr>
        <p:spPr>
          <a:xfrm rot="16200000">
            <a:off x="640344" y="2275111"/>
            <a:ext cx="231006" cy="105878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0208BE-280A-E6D2-E241-7AEE4EDD8E81}"/>
              </a:ext>
            </a:extLst>
          </p:cNvPr>
          <p:cNvCxnSpPr/>
          <p:nvPr/>
        </p:nvCxnSpPr>
        <p:spPr>
          <a:xfrm>
            <a:off x="7371980" y="2328050"/>
            <a:ext cx="1906993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rapezium 19">
            <a:extLst>
              <a:ext uri="{FF2B5EF4-FFF2-40B4-BE49-F238E27FC236}">
                <a16:creationId xmlns:a16="http://schemas.microsoft.com/office/drawing/2014/main" id="{7122352A-500F-F178-E679-8E7309A451CC}"/>
              </a:ext>
            </a:extLst>
          </p:cNvPr>
          <p:cNvSpPr/>
          <p:nvPr/>
        </p:nvSpPr>
        <p:spPr>
          <a:xfrm rot="16200000">
            <a:off x="7203538" y="2275111"/>
            <a:ext cx="231006" cy="105878"/>
          </a:xfrm>
          <a:prstGeom prst="trapezoi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DD55A4-0D9F-CC12-85B2-F64F65C35CF4}"/>
              </a:ext>
            </a:extLst>
          </p:cNvPr>
          <p:cNvCxnSpPr/>
          <p:nvPr/>
        </p:nvCxnSpPr>
        <p:spPr>
          <a:xfrm flipH="1">
            <a:off x="2319685" y="2079056"/>
            <a:ext cx="328717" cy="558265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5A221D-D8F9-AD82-4940-10E15917FB52}"/>
              </a:ext>
            </a:extLst>
          </p:cNvPr>
          <p:cNvCxnSpPr/>
          <p:nvPr/>
        </p:nvCxnSpPr>
        <p:spPr>
          <a:xfrm flipH="1">
            <a:off x="4812358" y="2048916"/>
            <a:ext cx="328717" cy="558265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C9EF655-3A2E-EE61-969D-FAE443520284}"/>
              </a:ext>
            </a:extLst>
          </p:cNvPr>
          <p:cNvCxnSpPr/>
          <p:nvPr/>
        </p:nvCxnSpPr>
        <p:spPr>
          <a:xfrm flipH="1">
            <a:off x="7375553" y="2048915"/>
            <a:ext cx="328717" cy="558265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437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446D35-3E18-F4D6-1685-ED81B25AB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36845"/>
            <a:ext cx="4263991" cy="4731801"/>
          </a:xfrm>
        </p:spPr>
        <p:txBody>
          <a:bodyPr/>
          <a:lstStyle/>
          <a:p>
            <a:r>
              <a:rPr lang="en-US" dirty="0"/>
              <a:t>Another effect on time walk is the signal spread in time for large distances (“first photon”)</a:t>
            </a:r>
          </a:p>
          <a:p>
            <a:r>
              <a:rPr lang="en-US" dirty="0"/>
              <a:t>The FSH/SSH difference might be negligible</a:t>
            </a:r>
          </a:p>
          <a:p>
            <a:pPr marL="0" indent="0">
              <a:buNone/>
            </a:pPr>
            <a:r>
              <a:rPr lang="en-US" dirty="0"/>
              <a:t>Anyways, the time walk depends on the distance:</a:t>
            </a:r>
          </a:p>
          <a:p>
            <a:r>
              <a:rPr lang="en-US" dirty="0"/>
              <a:t>Should we parametrize the time walk as a function of distance?</a:t>
            </a:r>
          </a:p>
          <a:p>
            <a:r>
              <a:rPr lang="en-US" dirty="0" err="1"/>
              <a:t>Botao’s</a:t>
            </a:r>
            <a:r>
              <a:rPr lang="en-US" dirty="0"/>
              <a:t> simulation important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E56C513-E6BE-CC30-D30B-0D3B75D8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walk - 2</a:t>
            </a:r>
          </a:p>
        </p:txBody>
      </p:sp>
      <p:pic>
        <p:nvPicPr>
          <p:cNvPr id="5" name="Picture 4" descr="A graph of different colored dots&#10;&#10;Description automatically generated">
            <a:extLst>
              <a:ext uri="{FF2B5EF4-FFF2-40B4-BE49-F238E27FC236}">
                <a16:creationId xmlns:a16="http://schemas.microsoft.com/office/drawing/2014/main" id="{04D9E352-0611-C4FD-751B-236B08583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992" y="1034200"/>
            <a:ext cx="5816633" cy="39995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CC41CE-0BC7-B01B-0A2F-057A0C252F05}"/>
              </a:ext>
            </a:extLst>
          </p:cNvPr>
          <p:cNvSpPr txBox="1"/>
          <p:nvPr/>
        </p:nvSpPr>
        <p:spPr>
          <a:xfrm>
            <a:off x="8885114" y="4826137"/>
            <a:ext cx="111851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Charge [</a:t>
            </a:r>
            <a:r>
              <a:rPr lang="en-US" sz="1400" dirty="0" err="1"/>
              <a:t>p.e.</a:t>
            </a:r>
            <a:r>
              <a:rPr lang="en-US" sz="1400" dirty="0"/>
              <a:t>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3A767-F2EF-DFE4-253F-A1C16E4FFC13}"/>
              </a:ext>
            </a:extLst>
          </p:cNvPr>
          <p:cNvSpPr txBox="1"/>
          <p:nvPr/>
        </p:nvSpPr>
        <p:spPr>
          <a:xfrm>
            <a:off x="8210349" y="2758330"/>
            <a:ext cx="1665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</a:t>
            </a:r>
            <a:r>
              <a:rPr lang="en-US" sz="1200" dirty="0" err="1"/>
              <a:t>scint</a:t>
            </a:r>
            <a:r>
              <a:rPr lang="en-US" sz="1200" dirty="0"/>
              <a:t>. decay time not taken into account!</a:t>
            </a:r>
          </a:p>
        </p:txBody>
      </p:sp>
    </p:spTree>
    <p:extLst>
      <p:ext uri="{BB962C8B-B14F-4D97-AF65-F5344CB8AC3E}">
        <p14:creationId xmlns:p14="http://schemas.microsoft.com/office/powerpoint/2010/main" val="2047908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5C72CF-F5A1-4FE7-ACE2-51171B96F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 effects contributing to time walk in the Super-FGD: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Signal spread in time along the fiber (“first photon effect”)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FSH-SSH amplitude mismatch</a:t>
            </a:r>
          </a:p>
          <a:p>
            <a:r>
              <a:rPr lang="en-US" dirty="0"/>
              <a:t>Results in time walk depending on cube distance from the MPPC</a:t>
            </a:r>
          </a:p>
          <a:p>
            <a:r>
              <a:rPr lang="en-US" dirty="0"/>
              <a:t>Effect 2 probably negligible in our case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826D"/>
                </a:solidFill>
              </a:rPr>
              <a:t>Next:</a:t>
            </a:r>
          </a:p>
          <a:p>
            <a:r>
              <a:rPr lang="en-US" dirty="0"/>
              <a:t>More accurate optical simulation (</a:t>
            </a:r>
            <a:r>
              <a:rPr lang="en-US" dirty="0" err="1"/>
              <a:t>Botao’s</a:t>
            </a:r>
            <a:r>
              <a:rPr lang="en-US" dirty="0"/>
              <a:t>)</a:t>
            </a:r>
          </a:p>
          <a:p>
            <a:r>
              <a:rPr lang="en-US" dirty="0"/>
              <a:t>More accurate electronics simulation</a:t>
            </a:r>
          </a:p>
          <a:p>
            <a:r>
              <a:rPr lang="en-US" b="1" dirty="0"/>
              <a:t>Try to fit time walk as a function of charge and distance 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CD8837-207D-BFFE-5211-F1EF7755A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014751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44FE0ECC-D699-6020-ACF7-FA60DA3CCE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30"/>
          <a:stretch/>
        </p:blipFill>
        <p:spPr>
          <a:xfrm>
            <a:off x="2411605" y="1251601"/>
            <a:ext cx="5054600" cy="34385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5D99AB-0346-5B99-3BD0-CC4F09D70AB7}"/>
              </a:ext>
            </a:extLst>
          </p:cNvPr>
          <p:cNvSpPr txBox="1"/>
          <p:nvPr/>
        </p:nvSpPr>
        <p:spPr>
          <a:xfrm>
            <a:off x="3888848" y="1896494"/>
            <a:ext cx="1671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Distance: 20 cm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0558F9-AF01-A132-1E32-663B8FE298B4}"/>
              </a:ext>
            </a:extLst>
          </p:cNvPr>
          <p:cNvCxnSpPr>
            <a:cxnSpLocks/>
          </p:cNvCxnSpPr>
          <p:nvPr/>
        </p:nvCxnSpPr>
        <p:spPr>
          <a:xfrm>
            <a:off x="2912119" y="3639853"/>
            <a:ext cx="405223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3847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0FB89-0480-1CD5-110C-0D5149FEB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75ADFC-A2B5-ED7E-E4CE-F1920FE2D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737290"/>
            <a:ext cx="2387064" cy="62112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Assuming CR-RC: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5D2CA2-26F9-9DC6-1214-1B2FA4E2C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Shaper simulation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BA4453-CE94-CC66-0CA1-68899C67DF5A}"/>
                  </a:ext>
                </a:extLst>
              </p:cNvPr>
              <p:cNvSpPr txBox="1"/>
              <p:nvPr/>
            </p:nvSpPr>
            <p:spPr>
              <a:xfrm>
                <a:off x="2208892" y="540324"/>
                <a:ext cx="7666849" cy="69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=∫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       where: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den>
                    </m:f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ABA4453-CE94-CC66-0CA1-68899C67D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892" y="540324"/>
                <a:ext cx="7666849" cy="698653"/>
              </a:xfrm>
              <a:prstGeom prst="rect">
                <a:avLst/>
              </a:prstGeom>
              <a:blipFill>
                <a:blip r:embed="rId2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5FB10E1-0359-32CC-98A9-14B2D3889C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3565151"/>
            <a:ext cx="2927019" cy="2105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69BD66-7405-C2CC-2606-285B310901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80" y="1201108"/>
            <a:ext cx="2927019" cy="21053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3376A5-581A-3302-E428-3D779B94294C}"/>
              </a:ext>
            </a:extLst>
          </p:cNvPr>
          <p:cNvCxnSpPr>
            <a:cxnSpLocks/>
          </p:cNvCxnSpPr>
          <p:nvPr/>
        </p:nvCxnSpPr>
        <p:spPr>
          <a:xfrm>
            <a:off x="1502155" y="3229507"/>
            <a:ext cx="0" cy="3556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of a function&#10;&#10;Description automatically generated with medium confidence">
            <a:extLst>
              <a:ext uri="{FF2B5EF4-FFF2-40B4-BE49-F238E27FC236}">
                <a16:creationId xmlns:a16="http://schemas.microsoft.com/office/drawing/2014/main" id="{8669BAA1-51CA-620C-0AF7-3FFB1F9337F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30"/>
          <a:stretch/>
        </p:blipFill>
        <p:spPr>
          <a:xfrm>
            <a:off x="3888606" y="1387291"/>
            <a:ext cx="6120513" cy="41637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2D5C03E-4EAC-858F-3E84-1E30E9961DDF}"/>
              </a:ext>
            </a:extLst>
          </p:cNvPr>
          <p:cNvSpPr txBox="1"/>
          <p:nvPr/>
        </p:nvSpPr>
        <p:spPr>
          <a:xfrm>
            <a:off x="4930293" y="3684727"/>
            <a:ext cx="1484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</a:rPr>
              <a:t>Fast shaper (</a:t>
            </a:r>
            <a:r>
              <a:rPr lang="el-GR" sz="1600" dirty="0">
                <a:solidFill>
                  <a:srgbClr val="0000FF"/>
                </a:solidFill>
              </a:rPr>
              <a:t>τ</a:t>
            </a:r>
            <a:r>
              <a:rPr lang="en-US" sz="1600" dirty="0">
                <a:solidFill>
                  <a:srgbClr val="0000FF"/>
                </a:solidFill>
              </a:rPr>
              <a:t>=15 ns)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280DBA-3F03-F918-D430-D27498DD03F5}"/>
              </a:ext>
            </a:extLst>
          </p:cNvPr>
          <p:cNvSpPr txBox="1"/>
          <p:nvPr/>
        </p:nvSpPr>
        <p:spPr>
          <a:xfrm>
            <a:off x="7179831" y="3913927"/>
            <a:ext cx="19920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Slow shaper (</a:t>
            </a:r>
            <a:r>
              <a:rPr lang="el-GR" sz="1600" dirty="0">
                <a:solidFill>
                  <a:srgbClr val="FF0000"/>
                </a:solidFill>
              </a:rPr>
              <a:t>τ</a:t>
            </a:r>
            <a:r>
              <a:rPr lang="en-US" sz="1600" dirty="0">
                <a:solidFill>
                  <a:srgbClr val="FF0000"/>
                </a:solidFill>
              </a:rPr>
              <a:t>=50 ns)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E3433E-229B-EA86-F81F-0AAFB2F04ACD}"/>
              </a:ext>
            </a:extLst>
          </p:cNvPr>
          <p:cNvSpPr txBox="1"/>
          <p:nvPr/>
        </p:nvSpPr>
        <p:spPr>
          <a:xfrm>
            <a:off x="4649017" y="2937175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r>
              <a:rPr lang="en-US" dirty="0"/>
              <a:t>(t)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FA64F76-02F7-247C-0ADB-0D92A9C57429}"/>
              </a:ext>
            </a:extLst>
          </p:cNvPr>
          <p:cNvCxnSpPr/>
          <p:nvPr/>
        </p:nvCxnSpPr>
        <p:spPr>
          <a:xfrm>
            <a:off x="4494998" y="4279689"/>
            <a:ext cx="4908884" cy="0"/>
          </a:xfrm>
          <a:prstGeom prst="line">
            <a:avLst/>
          </a:prstGeom>
          <a:ln w="127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522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B2EDDC-145C-33D6-A770-289013776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CITIROC datasheet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314DE4-7435-D29B-65B5-B2CD19D06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Shaper simulation</a:t>
            </a:r>
          </a:p>
        </p:txBody>
      </p:sp>
      <p:pic>
        <p:nvPicPr>
          <p:cNvPr id="5" name="Picture 4" descr="A diagram of a circuit&#10;&#10;Description automatically generated">
            <a:extLst>
              <a:ext uri="{FF2B5EF4-FFF2-40B4-BE49-F238E27FC236}">
                <a16:creationId xmlns:a16="http://schemas.microsoft.com/office/drawing/2014/main" id="{CBBF483E-CD28-34F6-C143-0CEF289F7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425" y="2286530"/>
            <a:ext cx="4775200" cy="1981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C2B466-64DF-BFDA-1DF6-A295390FB123}"/>
              </a:ext>
            </a:extLst>
          </p:cNvPr>
          <p:cNvSpPr txBox="1"/>
          <p:nvPr/>
        </p:nvSpPr>
        <p:spPr>
          <a:xfrm>
            <a:off x="6362352" y="1491218"/>
            <a:ext cx="3083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Slow shaper (12.5 ns – 87.5 ns)</a:t>
            </a:r>
          </a:p>
          <a:p>
            <a:r>
              <a:rPr lang="en-US" dirty="0"/>
              <a:t>CR-RC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</p:txBody>
      </p:sp>
      <p:pic>
        <p:nvPicPr>
          <p:cNvPr id="8" name="Picture 7" descr="A diagram of a circuit&#10;&#10;Description automatically generated">
            <a:extLst>
              <a:ext uri="{FF2B5EF4-FFF2-40B4-BE49-F238E27FC236}">
                <a16:creationId xmlns:a16="http://schemas.microsoft.com/office/drawing/2014/main" id="{56E7A235-98BE-08BA-37C9-36A583B31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28" y="1844675"/>
            <a:ext cx="4109370" cy="2423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6A19E9-795C-F277-632F-9FE2D0A25A9A}"/>
              </a:ext>
            </a:extLst>
          </p:cNvPr>
          <p:cNvSpPr txBox="1"/>
          <p:nvPr/>
        </p:nvSpPr>
        <p:spPr>
          <a:xfrm>
            <a:off x="1660313" y="1402820"/>
            <a:ext cx="1943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Fast shaper (15 ns)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7BF34-213F-4B73-3758-5F9FDB37F258}"/>
              </a:ext>
            </a:extLst>
          </p:cNvPr>
          <p:cNvSpPr txBox="1"/>
          <p:nvPr/>
        </p:nvSpPr>
        <p:spPr>
          <a:xfrm>
            <a:off x="510139" y="4552749"/>
            <a:ext cx="45540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 I get 15 ns peaking time here?</a:t>
            </a:r>
          </a:p>
          <a:p>
            <a:r>
              <a:rPr lang="en-US" dirty="0"/>
              <a:t>How do I get the transfer function?</a:t>
            </a:r>
          </a:p>
          <a:p>
            <a:r>
              <a:rPr lang="en-US" dirty="0"/>
              <a:t>Is the CR-RC transfer function a good approx.?</a:t>
            </a:r>
          </a:p>
        </p:txBody>
      </p:sp>
    </p:spTree>
    <p:extLst>
      <p:ext uri="{BB962C8B-B14F-4D97-AF65-F5344CB8AC3E}">
        <p14:creationId xmlns:p14="http://schemas.microsoft.com/office/powerpoint/2010/main" val="183599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ircuit&#10;&#10;Description automatically generated">
            <a:extLst>
              <a:ext uri="{FF2B5EF4-FFF2-40B4-BE49-F238E27FC236}">
                <a16:creationId xmlns:a16="http://schemas.microsoft.com/office/drawing/2014/main" id="{272F0BEE-CC6E-62BC-4525-6DDB52BF7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512" y="506764"/>
            <a:ext cx="4109370" cy="2423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306B67-F85A-A43C-5FF2-C5E64B6088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636845"/>
                <a:ext cx="5419023" cy="4731801"/>
              </a:xfrm>
            </p:spPr>
            <p:txBody>
              <a:bodyPr/>
              <a:lstStyle/>
              <a:p>
                <a:r>
                  <a:rPr lang="en-US" dirty="0"/>
                  <a:t>solving circuit in </a:t>
                </a:r>
                <a:r>
                  <a:rPr lang="en-US" dirty="0" err="1"/>
                  <a:t>laplace</a:t>
                </a:r>
                <a:r>
                  <a:rPr lang="en-US" dirty="0"/>
                  <a:t> domain: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𝑎𝑠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where a = 1/RC = 1/2.5 ns</a:t>
                </a:r>
              </a:p>
              <a:p>
                <a:r>
                  <a:rPr lang="en-US" dirty="0"/>
                  <a:t>Solution in time domain: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has a maximum in 2/a = 5 ns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306B67-F85A-A43C-5FF2-C5E64B6088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636845"/>
                <a:ext cx="5419023" cy="4731801"/>
              </a:xfrm>
              <a:blipFill>
                <a:blip r:embed="rId3"/>
                <a:stretch>
                  <a:fillRect l="-1639" t="-1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B791C2A-13E2-4385-9726-AA15D68D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shaper</a:t>
            </a:r>
          </a:p>
        </p:txBody>
      </p:sp>
      <p:pic>
        <p:nvPicPr>
          <p:cNvPr id="6" name="Picture 5" descr="A graph of a number of numbers&#10;&#10;Description automatically generated">
            <a:extLst>
              <a:ext uri="{FF2B5EF4-FFF2-40B4-BE49-F238E27FC236}">
                <a16:creationId xmlns:a16="http://schemas.microsoft.com/office/drawing/2014/main" id="{D3ACB1BC-CCD0-D4C5-4DE5-68706295F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2277" y="2929819"/>
            <a:ext cx="3534261" cy="2542188"/>
          </a:xfrm>
          <a:prstGeom prst="rect">
            <a:avLst/>
          </a:prstGeom>
        </p:spPr>
      </p:pic>
      <p:pic>
        <p:nvPicPr>
          <p:cNvPr id="8" name="Picture 7" descr="A graph of a graph showing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E7F603C2-24E5-A801-7291-700350FD5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246" y="3128361"/>
            <a:ext cx="3534261" cy="25396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DA4F6E-34C8-1C19-F0C0-72D649A770E1}"/>
              </a:ext>
            </a:extLst>
          </p:cNvPr>
          <p:cNvSpPr txBox="1"/>
          <p:nvPr/>
        </p:nvSpPr>
        <p:spPr>
          <a:xfrm>
            <a:off x="2135428" y="3317045"/>
            <a:ext cx="4705840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Only photons in the first 2,5 ns matter…</a:t>
            </a:r>
          </a:p>
          <a:p>
            <a:r>
              <a:rPr lang="en-US" b="1" dirty="0"/>
              <a:t>This is not what it says on the datasheet (15 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8E7FF-0681-E498-6679-624F76D33101}"/>
              </a:ext>
            </a:extLst>
          </p:cNvPr>
          <p:cNvSpPr txBox="1"/>
          <p:nvPr/>
        </p:nvSpPr>
        <p:spPr>
          <a:xfrm>
            <a:off x="4220308" y="221064"/>
            <a:ext cx="1371969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WRONG</a:t>
            </a:r>
          </a:p>
        </p:txBody>
      </p:sp>
    </p:spTree>
    <p:extLst>
      <p:ext uri="{BB962C8B-B14F-4D97-AF65-F5344CB8AC3E}">
        <p14:creationId xmlns:p14="http://schemas.microsoft.com/office/powerpoint/2010/main" val="3346432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2A5D5A-94B5-BB40-723A-31D8728EFCE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With Laplace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F38BF-9554-0CDC-5174-555946402E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Simple CR-RC with </a:t>
            </a:r>
            <a:r>
              <a:rPr lang="el-GR" dirty="0"/>
              <a:t>τ</a:t>
            </a:r>
            <a:r>
              <a:rPr lang="en-US" dirty="0"/>
              <a:t>=15 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E1EEB4-E6E9-B974-2E70-405112C3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shaper???</a:t>
            </a:r>
          </a:p>
        </p:txBody>
      </p:sp>
      <p:pic>
        <p:nvPicPr>
          <p:cNvPr id="8" name="Picture 7" descr="A graph of a graph with numbers and a red line&#10;&#10;Description automatically generated">
            <a:extLst>
              <a:ext uri="{FF2B5EF4-FFF2-40B4-BE49-F238E27FC236}">
                <a16:creationId xmlns:a16="http://schemas.microsoft.com/office/drawing/2014/main" id="{0FD9BC19-3ADD-C416-93BC-0F908B742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82" y="1416478"/>
            <a:ext cx="5067300" cy="3644900"/>
          </a:xfrm>
          <a:prstGeom prst="rect">
            <a:avLst/>
          </a:prstGeom>
        </p:spPr>
      </p:pic>
      <p:pic>
        <p:nvPicPr>
          <p:cNvPr id="6" name="Picture 5" descr="A graph of a graph with a red line and blue line&#10;&#10;Description automatically generated">
            <a:extLst>
              <a:ext uri="{FF2B5EF4-FFF2-40B4-BE49-F238E27FC236}">
                <a16:creationId xmlns:a16="http://schemas.microsoft.com/office/drawing/2014/main" id="{6500C874-2862-0001-AD9B-27CD4C898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325" y="1416478"/>
            <a:ext cx="5067300" cy="3644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DFD4DA-C094-DC58-1B14-730EA29C51FF}"/>
              </a:ext>
            </a:extLst>
          </p:cNvPr>
          <p:cNvSpPr txBox="1"/>
          <p:nvPr/>
        </p:nvSpPr>
        <p:spPr>
          <a:xfrm>
            <a:off x="9036557" y="5102895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[ns]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620FD-B5F9-492F-71C4-E9352A54FB38}"/>
              </a:ext>
            </a:extLst>
          </p:cNvPr>
          <p:cNvSpPr txBox="1"/>
          <p:nvPr/>
        </p:nvSpPr>
        <p:spPr>
          <a:xfrm>
            <a:off x="3866186" y="5102895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[ns]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59EBB1-91C1-0A4D-B532-A54666786EC4}"/>
              </a:ext>
            </a:extLst>
          </p:cNvPr>
          <p:cNvSpPr txBox="1"/>
          <p:nvPr/>
        </p:nvSpPr>
        <p:spPr>
          <a:xfrm>
            <a:off x="-64393" y="141647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a.u</a:t>
            </a:r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4C0800-1FBE-C69E-5EEE-18BA78CCCE84}"/>
              </a:ext>
            </a:extLst>
          </p:cNvPr>
          <p:cNvSpPr txBox="1"/>
          <p:nvPr/>
        </p:nvSpPr>
        <p:spPr>
          <a:xfrm>
            <a:off x="4925366" y="1416478"/>
            <a:ext cx="53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a.u</a:t>
            </a:r>
            <a:r>
              <a:rPr lang="en-US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C8428-DFD5-7600-BE39-39F45D53519F}"/>
              </a:ext>
            </a:extLst>
          </p:cNvPr>
          <p:cNvSpPr txBox="1"/>
          <p:nvPr/>
        </p:nvSpPr>
        <p:spPr>
          <a:xfrm>
            <a:off x="4220308" y="221064"/>
            <a:ext cx="1371969" cy="46166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WRONG</a:t>
            </a:r>
          </a:p>
        </p:txBody>
      </p:sp>
    </p:spTree>
    <p:extLst>
      <p:ext uri="{BB962C8B-B14F-4D97-AF65-F5344CB8AC3E}">
        <p14:creationId xmlns:p14="http://schemas.microsoft.com/office/powerpoint/2010/main" val="106564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0823E68-027E-9570-A7BE-62BE0BF99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25" y="799178"/>
            <a:ext cx="6548815" cy="465380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423F2A0-6483-3500-37A1-635B8785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Transfer functions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DC67BB-3DE0-1452-44DF-CAA3305A405A}"/>
              </a:ext>
            </a:extLst>
          </p:cNvPr>
          <p:cNvCxnSpPr>
            <a:cxnSpLocks/>
          </p:cNvCxnSpPr>
          <p:nvPr/>
        </p:nvCxnSpPr>
        <p:spPr>
          <a:xfrm flipV="1">
            <a:off x="4330840" y="1264827"/>
            <a:ext cx="0" cy="3719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8CBB0C-8B75-9502-A36D-F782179099C4}"/>
              </a:ext>
            </a:extLst>
          </p:cNvPr>
          <p:cNvSpPr txBox="1"/>
          <p:nvPr/>
        </p:nvSpPr>
        <p:spPr>
          <a:xfrm>
            <a:off x="3938922" y="957050"/>
            <a:ext cx="74411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67 MHz</a:t>
            </a:r>
          </a:p>
        </p:txBody>
      </p:sp>
      <p:pic>
        <p:nvPicPr>
          <p:cNvPr id="18" name="Picture 17" descr="A diagram of a circuit&#10;&#10;Description automatically generated">
            <a:extLst>
              <a:ext uri="{FF2B5EF4-FFF2-40B4-BE49-F238E27FC236}">
                <a16:creationId xmlns:a16="http://schemas.microsoft.com/office/drawing/2014/main" id="{D7C9ABFC-3E13-4903-A011-18B08A3BA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073" y="3890747"/>
            <a:ext cx="3052531" cy="1799899"/>
          </a:xfrm>
          <a:prstGeom prst="rect">
            <a:avLst/>
          </a:prstGeom>
        </p:spPr>
      </p:pic>
      <p:pic>
        <p:nvPicPr>
          <p:cNvPr id="19" name="Picture 18" descr="A diagram of a high gain preamplifier&#10;&#10;Description automatically generated">
            <a:extLst>
              <a:ext uri="{FF2B5EF4-FFF2-40B4-BE49-F238E27FC236}">
                <a16:creationId xmlns:a16="http://schemas.microsoft.com/office/drawing/2014/main" id="{F867CCD3-D98B-0EB1-486D-20E1B74DC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09" y="1476402"/>
            <a:ext cx="3293324" cy="195983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B24C779-ADC4-002D-6B0D-C7315B998108}"/>
              </a:ext>
            </a:extLst>
          </p:cNvPr>
          <p:cNvSpPr txBox="1"/>
          <p:nvPr/>
        </p:nvSpPr>
        <p:spPr>
          <a:xfrm>
            <a:off x="7135403" y="680799"/>
            <a:ext cx="265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HG preamp:</a:t>
            </a:r>
          </a:p>
          <a:p>
            <a:r>
              <a:rPr lang="en-US" dirty="0" err="1"/>
              <a:t>A</a:t>
            </a:r>
            <a:r>
              <a:rPr lang="en-US" baseline="-25000" dirty="0" err="1"/>
              <a:t>ol</a:t>
            </a:r>
            <a:r>
              <a:rPr lang="en-US" dirty="0"/>
              <a:t> = 65 dB</a:t>
            </a:r>
          </a:p>
          <a:p>
            <a:r>
              <a:rPr lang="en-US" dirty="0"/>
              <a:t>cut off frequency: 450 kHz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E24903-E590-BCDF-58DC-D5892AF22830}"/>
              </a:ext>
            </a:extLst>
          </p:cNvPr>
          <p:cNvSpPr txBox="1"/>
          <p:nvPr/>
        </p:nvSpPr>
        <p:spPr>
          <a:xfrm>
            <a:off x="7118572" y="3309560"/>
            <a:ext cx="26865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Fast shaper:</a:t>
            </a:r>
          </a:p>
          <a:p>
            <a:r>
              <a:rPr lang="en-US" dirty="0" err="1"/>
              <a:t>A</a:t>
            </a:r>
            <a:r>
              <a:rPr lang="en-US" baseline="-25000" dirty="0" err="1"/>
              <a:t>ol</a:t>
            </a:r>
            <a:r>
              <a:rPr lang="en-US" dirty="0"/>
              <a:t> = 60 dB</a:t>
            </a:r>
          </a:p>
          <a:p>
            <a:r>
              <a:rPr lang="en-US" dirty="0"/>
              <a:t>cut off frequency: 1.2 MHz</a:t>
            </a:r>
          </a:p>
        </p:txBody>
      </p:sp>
    </p:spTree>
    <p:extLst>
      <p:ext uri="{BB962C8B-B14F-4D97-AF65-F5344CB8AC3E}">
        <p14:creationId xmlns:p14="http://schemas.microsoft.com/office/powerpoint/2010/main" val="2638136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duotone>
              <a:prstClr val="black"/>
              <a:schemeClr val="accent6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5000" contrast="-7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F902-2B7A-54CB-80F7-538F63AE8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C74F17-6AC0-01F3-7941-0EFB6DE5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A00C398-DFC9-C043-AD55-7D643954354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473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duotone>
              <a:prstClr val="black"/>
              <a:schemeClr val="accent6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55000" contrast="-7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5B7828-405B-9A42-F274-36AFCE0A21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3D328-E77B-B1F8-5A25-C369A6B77B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D7B686-AB0C-7534-BF75-F105C0CEF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26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DAA09B3-F08B-6440-ABF6-34691D08E111}" vid="{E21B196D-E44E-C14B-8654-9EF3DED2B1C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751</Words>
  <Application>Microsoft Macintosh PowerPoint</Application>
  <PresentationFormat>Custom</PresentationFormat>
  <Paragraphs>113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Athelas</vt:lpstr>
      <vt:lpstr>Calibri</vt:lpstr>
      <vt:lpstr>Calibri Light</vt:lpstr>
      <vt:lpstr>Cambria Math</vt:lpstr>
      <vt:lpstr>Liberation Sans</vt:lpstr>
      <vt:lpstr>Liberation Serif</vt:lpstr>
      <vt:lpstr>Monaco</vt:lpstr>
      <vt:lpstr>Verdana</vt:lpstr>
      <vt:lpstr>Wingdings</vt:lpstr>
      <vt:lpstr>Office Theme</vt:lpstr>
      <vt:lpstr>CITIROC simulation </vt:lpstr>
      <vt:lpstr>Outline</vt:lpstr>
      <vt:lpstr>Circuit</vt:lpstr>
      <vt:lpstr>Back up</vt:lpstr>
      <vt:lpstr>Intro</vt:lpstr>
      <vt:lpstr>Time stamping and time walk</vt:lpstr>
      <vt:lpstr>Direct + reflected pulse</vt:lpstr>
      <vt:lpstr>time walk - 1</vt:lpstr>
      <vt:lpstr>time walk - 2</vt:lpstr>
      <vt:lpstr>Summary</vt:lpstr>
      <vt:lpstr>PowerPoint Presentation</vt:lpstr>
      <vt:lpstr>Shaper simulation</vt:lpstr>
      <vt:lpstr>Shaper simulation</vt:lpstr>
      <vt:lpstr>Solving shaper</vt:lpstr>
      <vt:lpstr>What shaper???</vt:lpstr>
      <vt:lpstr>Transfer functions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Lorenzo Giannessi</dc:creator>
  <cp:keywords/>
  <dc:description/>
  <cp:lastModifiedBy>Lorenzo Giannessi</cp:lastModifiedBy>
  <cp:revision>2</cp:revision>
  <dcterms:created xsi:type="dcterms:W3CDTF">2025-02-07T08:53:39Z</dcterms:created>
  <dcterms:modified xsi:type="dcterms:W3CDTF">2025-02-07T09:06:25Z</dcterms:modified>
  <cp:category/>
</cp:coreProperties>
</file>